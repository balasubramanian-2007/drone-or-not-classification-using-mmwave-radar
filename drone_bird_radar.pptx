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61" r:id="rId2"/>
  </p:sldMasterIdLst>
  <p:notesMasterIdLst>
    <p:notesMasterId r:id="rId5"/>
  </p:notesMasterIdLst>
  <p:sldIdLst>
    <p:sldId id="256" r:id="rId3"/>
    <p:sldId id="257" r:id="rId4"/>
    <p:sldId id="258" r:id="rId20"/>
    <p:sldId id="259" r:id="rId21"/>
    <p:sldId id="260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00">
          <p15:clr>
            <a:srgbClr val="A4A3A4"/>
          </p15:clr>
        </p15:guide>
        <p15:guide id="2" pos="792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jkMnOPljgt8C16FyVCIjdc8OlX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E7600B-870B-4E0A-8D3A-2A54AEE0A3C0}">
  <a:tblStyle styleId="{EBE7600B-870B-4E0A-8D3A-2A54AEE0A3C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28F4D46-1AAB-4E4E-8192-15710217F7A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>
        <p:guide orient="horz" pos="600"/>
        <p:guide pos="7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" Type="http://customschemas.google.com/relationships/presentationmetadata" Target="metadata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fee6db312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fee6db312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" name="Google Shape;144;g3afee6db312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35"/>
          <p:cNvCxnSpPr/>
          <p:nvPr/>
        </p:nvCxnSpPr>
        <p:spPr>
          <a:xfrm>
            <a:off x="811850" y="982766"/>
            <a:ext cx="82467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" name="Google Shape;23;p35"/>
          <p:cNvSpPr/>
          <p:nvPr/>
        </p:nvSpPr>
        <p:spPr>
          <a:xfrm>
            <a:off x="0" y="5944552"/>
            <a:ext cx="12192000" cy="91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5"/>
          <p:cNvSpPr/>
          <p:nvPr/>
        </p:nvSpPr>
        <p:spPr>
          <a:xfrm>
            <a:off x="4819649" y="-15875"/>
            <a:ext cx="7375525" cy="6864351"/>
          </a:xfrm>
          <a:custGeom>
            <a:avLst/>
            <a:gdLst/>
            <a:ahLst/>
            <a:cxnLst/>
            <a:rect l="l" t="t" r="r" b="b"/>
            <a:pathLst>
              <a:path w="7375525" h="6864351" extrusionOk="0">
                <a:moveTo>
                  <a:pt x="0" y="6864351"/>
                </a:moveTo>
                <a:lnTo>
                  <a:pt x="4895035" y="6350"/>
                </a:lnTo>
                <a:lnTo>
                  <a:pt x="7375525" y="0"/>
                </a:lnTo>
                <a:cubicBezTo>
                  <a:pt x="7374467" y="1353079"/>
                  <a:pt x="7375789" y="2706159"/>
                  <a:pt x="7374731" y="4059238"/>
                </a:cubicBezTo>
                <a:lnTo>
                  <a:pt x="5372915" y="6864351"/>
                </a:lnTo>
                <a:lnTo>
                  <a:pt x="0" y="6864351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5"/>
          <p:cNvSpPr txBox="1">
            <a:spLocks noGrp="1"/>
          </p:cNvSpPr>
          <p:nvPr>
            <p:ph type="ctrTitle"/>
          </p:nvPr>
        </p:nvSpPr>
        <p:spPr>
          <a:xfrm>
            <a:off x="333829" y="2530247"/>
            <a:ext cx="7257142" cy="158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5"/>
          <p:cNvSpPr txBox="1">
            <a:spLocks noGrp="1"/>
          </p:cNvSpPr>
          <p:nvPr>
            <p:ph type="subTitle" idx="1"/>
          </p:nvPr>
        </p:nvSpPr>
        <p:spPr>
          <a:xfrm>
            <a:off x="333829" y="4211638"/>
            <a:ext cx="7257142" cy="694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35"/>
          <p:cNvSpPr/>
          <p:nvPr/>
        </p:nvSpPr>
        <p:spPr>
          <a:xfrm>
            <a:off x="4812532" y="6646069"/>
            <a:ext cx="5524473" cy="209549"/>
          </a:xfrm>
          <a:prstGeom prst="parallelogram">
            <a:avLst>
              <a:gd name="adj" fmla="val 71377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5"/>
          <p:cNvSpPr/>
          <p:nvPr/>
        </p:nvSpPr>
        <p:spPr>
          <a:xfrm>
            <a:off x="4964430" y="4049395"/>
            <a:ext cx="7219950" cy="2597150"/>
          </a:xfrm>
          <a:prstGeom prst="parallelogram">
            <a:avLst>
              <a:gd name="adj" fmla="val 71210"/>
            </a:avLst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5"/>
          <p:cNvSpPr/>
          <p:nvPr/>
        </p:nvSpPr>
        <p:spPr>
          <a:xfrm>
            <a:off x="9152547" y="4049871"/>
            <a:ext cx="1186176" cy="26011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5"/>
          <p:cNvSpPr/>
          <p:nvPr/>
        </p:nvSpPr>
        <p:spPr>
          <a:xfrm rot="10800000" flipH="1">
            <a:off x="10337797" y="4044941"/>
            <a:ext cx="1854203" cy="2601128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31;p35" descr="A group of people in the sky&#10;&#10;Description automatically generated with low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7005" y="-19209"/>
            <a:ext cx="1852587" cy="4068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66344" y="2091898"/>
            <a:ext cx="1636779" cy="1624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75035" y="3395345"/>
            <a:ext cx="606584" cy="606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5" descr="Shape&#10;&#10;Description automatically generated with low confidenc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702795" y="4379089"/>
            <a:ext cx="558756" cy="556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35" descr="Shape&#10;&#10;Description automatically generated with low confidenc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3745" y="1458121"/>
            <a:ext cx="558756" cy="556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35" descr="Shape&#10;&#10;Description automatically generated with medium confidence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286471" y="5992934"/>
            <a:ext cx="608342" cy="655347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5"/>
          <p:cNvSpPr txBox="1"/>
          <p:nvPr/>
        </p:nvSpPr>
        <p:spPr>
          <a:xfrm>
            <a:off x="4964430" y="6388402"/>
            <a:ext cx="545795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ISO 9001:2015  |  ISO 14001:2015    |   ISO 27001:2013   |  ISO 45001:2018   |   AS9100D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" name="Google Shape;38;p3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849350" y="449375"/>
            <a:ext cx="21717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41"/>
          <p:cNvSpPr txBox="1">
            <a:spLocks noGrp="1"/>
          </p:cNvSpPr>
          <p:nvPr>
            <p:ph type="dt" idx="10"/>
          </p:nvPr>
        </p:nvSpPr>
        <p:spPr>
          <a:xfrm>
            <a:off x="35873" y="6638439"/>
            <a:ext cx="2743200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1"/>
          <p:cNvSpPr txBox="1">
            <a:spLocks noGrp="1"/>
          </p:cNvSpPr>
          <p:nvPr>
            <p:ph type="ftr" idx="11"/>
          </p:nvPr>
        </p:nvSpPr>
        <p:spPr>
          <a:xfrm>
            <a:off x="4038600" y="6638439"/>
            <a:ext cx="4114800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1"/>
          <p:cNvSpPr txBox="1">
            <a:spLocks noGrp="1"/>
          </p:cNvSpPr>
          <p:nvPr>
            <p:ph type="sldNum" idx="12"/>
          </p:nvPr>
        </p:nvSpPr>
        <p:spPr>
          <a:xfrm>
            <a:off x="11610976" y="6651885"/>
            <a:ext cx="545151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6"/>
          <p:cNvSpPr txBox="1">
            <a:spLocks noGrp="1"/>
          </p:cNvSpPr>
          <p:nvPr>
            <p:ph type="title"/>
          </p:nvPr>
        </p:nvSpPr>
        <p:spPr>
          <a:xfrm>
            <a:off x="838200" y="225514"/>
            <a:ext cx="9791700" cy="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6"/>
          <p:cNvSpPr txBox="1">
            <a:spLocks noGrp="1"/>
          </p:cNvSpPr>
          <p:nvPr>
            <p:ph type="body" idx="1"/>
          </p:nvPr>
        </p:nvSpPr>
        <p:spPr>
          <a:xfrm>
            <a:off x="838200" y="1333144"/>
            <a:ext cx="10515600" cy="4843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6"/>
          <p:cNvSpPr txBox="1">
            <a:spLocks noGrp="1"/>
          </p:cNvSpPr>
          <p:nvPr>
            <p:ph type="dt" idx="10"/>
          </p:nvPr>
        </p:nvSpPr>
        <p:spPr>
          <a:xfrm>
            <a:off x="35873" y="6638439"/>
            <a:ext cx="2743200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6"/>
          <p:cNvSpPr txBox="1">
            <a:spLocks noGrp="1"/>
          </p:cNvSpPr>
          <p:nvPr>
            <p:ph type="ftr" idx="11"/>
          </p:nvPr>
        </p:nvSpPr>
        <p:spPr>
          <a:xfrm>
            <a:off x="4038600" y="6638439"/>
            <a:ext cx="4114800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6"/>
          <p:cNvSpPr txBox="1">
            <a:spLocks noGrp="1"/>
          </p:cNvSpPr>
          <p:nvPr>
            <p:ph type="sldNum" idx="12"/>
          </p:nvPr>
        </p:nvSpPr>
        <p:spPr>
          <a:xfrm>
            <a:off x="11610976" y="6651885"/>
            <a:ext cx="545151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1" name="Google Shape;51;p36"/>
          <p:cNvSpPr/>
          <p:nvPr/>
        </p:nvSpPr>
        <p:spPr>
          <a:xfrm>
            <a:off x="11001375" y="0"/>
            <a:ext cx="1171200" cy="1060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Google Shape;52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21050" y="35700"/>
            <a:ext cx="1699125" cy="83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7"/>
          <p:cNvSpPr txBox="1">
            <a:spLocks noGrp="1"/>
          </p:cNvSpPr>
          <p:nvPr>
            <p:ph type="title"/>
          </p:nvPr>
        </p:nvSpPr>
        <p:spPr>
          <a:xfrm>
            <a:off x="838200" y="352426"/>
            <a:ext cx="9791700" cy="60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7"/>
          <p:cNvSpPr txBox="1">
            <a:spLocks noGrp="1"/>
          </p:cNvSpPr>
          <p:nvPr>
            <p:ph type="dt" idx="10"/>
          </p:nvPr>
        </p:nvSpPr>
        <p:spPr>
          <a:xfrm>
            <a:off x="35873" y="6638439"/>
            <a:ext cx="2743200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7"/>
          <p:cNvSpPr txBox="1">
            <a:spLocks noGrp="1"/>
          </p:cNvSpPr>
          <p:nvPr>
            <p:ph type="ftr" idx="11"/>
          </p:nvPr>
        </p:nvSpPr>
        <p:spPr>
          <a:xfrm>
            <a:off x="4038600" y="6638439"/>
            <a:ext cx="4114800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7"/>
          <p:cNvSpPr txBox="1">
            <a:spLocks noGrp="1"/>
          </p:cNvSpPr>
          <p:nvPr>
            <p:ph type="sldNum" idx="12"/>
          </p:nvPr>
        </p:nvSpPr>
        <p:spPr>
          <a:xfrm>
            <a:off x="11610976" y="6651885"/>
            <a:ext cx="545151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8"/>
          <p:cNvSpPr txBox="1">
            <a:spLocks noGrp="1"/>
          </p:cNvSpPr>
          <p:nvPr>
            <p:ph type="dt" idx="10"/>
          </p:nvPr>
        </p:nvSpPr>
        <p:spPr>
          <a:xfrm>
            <a:off x="35873" y="6638439"/>
            <a:ext cx="2743200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8"/>
          <p:cNvSpPr txBox="1">
            <a:spLocks noGrp="1"/>
          </p:cNvSpPr>
          <p:nvPr>
            <p:ph type="ftr" idx="11"/>
          </p:nvPr>
        </p:nvSpPr>
        <p:spPr>
          <a:xfrm>
            <a:off x="4038600" y="6638439"/>
            <a:ext cx="4114800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8"/>
          <p:cNvSpPr txBox="1">
            <a:spLocks noGrp="1"/>
          </p:cNvSpPr>
          <p:nvPr>
            <p:ph type="sldNum" idx="12"/>
          </p:nvPr>
        </p:nvSpPr>
        <p:spPr>
          <a:xfrm>
            <a:off x="11610976" y="6651885"/>
            <a:ext cx="545151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2"/>
          <p:cNvSpPr txBox="1">
            <a:spLocks noGrp="1"/>
          </p:cNvSpPr>
          <p:nvPr>
            <p:ph type="title"/>
          </p:nvPr>
        </p:nvSpPr>
        <p:spPr>
          <a:xfrm>
            <a:off x="838200" y="352426"/>
            <a:ext cx="9791700" cy="60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4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42"/>
          <p:cNvSpPr txBox="1">
            <a:spLocks noGrp="1"/>
          </p:cNvSpPr>
          <p:nvPr>
            <p:ph type="dt" idx="10"/>
          </p:nvPr>
        </p:nvSpPr>
        <p:spPr>
          <a:xfrm>
            <a:off x="35873" y="6638439"/>
            <a:ext cx="2743200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2"/>
          <p:cNvSpPr txBox="1">
            <a:spLocks noGrp="1"/>
          </p:cNvSpPr>
          <p:nvPr>
            <p:ph type="ftr" idx="11"/>
          </p:nvPr>
        </p:nvSpPr>
        <p:spPr>
          <a:xfrm>
            <a:off x="4038600" y="6638439"/>
            <a:ext cx="4114800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2"/>
          <p:cNvSpPr txBox="1">
            <a:spLocks noGrp="1"/>
          </p:cNvSpPr>
          <p:nvPr>
            <p:ph type="sldNum" idx="12"/>
          </p:nvPr>
        </p:nvSpPr>
        <p:spPr>
          <a:xfrm>
            <a:off x="11610976" y="6651885"/>
            <a:ext cx="545151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3"/>
          <p:cNvSpPr txBox="1">
            <a:spLocks noGrp="1"/>
          </p:cNvSpPr>
          <p:nvPr>
            <p:ph type="title"/>
          </p:nvPr>
        </p:nvSpPr>
        <p:spPr>
          <a:xfrm>
            <a:off x="839788" y="352425"/>
            <a:ext cx="9739722" cy="61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3"/>
          <p:cNvSpPr txBox="1">
            <a:spLocks noGrp="1"/>
          </p:cNvSpPr>
          <p:nvPr>
            <p:ph type="body" idx="1"/>
          </p:nvPr>
        </p:nvSpPr>
        <p:spPr>
          <a:xfrm>
            <a:off x="839788" y="12620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2" name="Google Shape;72;p43"/>
          <p:cNvSpPr txBox="1">
            <a:spLocks noGrp="1"/>
          </p:cNvSpPr>
          <p:nvPr>
            <p:ph type="body" idx="2"/>
          </p:nvPr>
        </p:nvSpPr>
        <p:spPr>
          <a:xfrm>
            <a:off x="839788" y="20859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43"/>
          <p:cNvSpPr txBox="1">
            <a:spLocks noGrp="1"/>
          </p:cNvSpPr>
          <p:nvPr>
            <p:ph type="body" idx="3"/>
          </p:nvPr>
        </p:nvSpPr>
        <p:spPr>
          <a:xfrm>
            <a:off x="6172200" y="12620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4" name="Google Shape;74;p43"/>
          <p:cNvSpPr txBox="1">
            <a:spLocks noGrp="1"/>
          </p:cNvSpPr>
          <p:nvPr>
            <p:ph type="body" idx="4"/>
          </p:nvPr>
        </p:nvSpPr>
        <p:spPr>
          <a:xfrm>
            <a:off x="6172200" y="20859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3"/>
          <p:cNvSpPr txBox="1">
            <a:spLocks noGrp="1"/>
          </p:cNvSpPr>
          <p:nvPr>
            <p:ph type="dt" idx="10"/>
          </p:nvPr>
        </p:nvSpPr>
        <p:spPr>
          <a:xfrm>
            <a:off x="35873" y="6638439"/>
            <a:ext cx="2743200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3"/>
          <p:cNvSpPr txBox="1">
            <a:spLocks noGrp="1"/>
          </p:cNvSpPr>
          <p:nvPr>
            <p:ph type="ftr" idx="11"/>
          </p:nvPr>
        </p:nvSpPr>
        <p:spPr>
          <a:xfrm>
            <a:off x="4038600" y="6638439"/>
            <a:ext cx="4114800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3"/>
          <p:cNvSpPr txBox="1">
            <a:spLocks noGrp="1"/>
          </p:cNvSpPr>
          <p:nvPr>
            <p:ph type="sldNum" idx="12"/>
          </p:nvPr>
        </p:nvSpPr>
        <p:spPr>
          <a:xfrm>
            <a:off x="11610976" y="6651885"/>
            <a:ext cx="545151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4"/>
          <p:cNvSpPr txBox="1">
            <a:spLocks noGrp="1"/>
          </p:cNvSpPr>
          <p:nvPr>
            <p:ph type="dt" idx="10"/>
          </p:nvPr>
        </p:nvSpPr>
        <p:spPr>
          <a:xfrm>
            <a:off x="35873" y="6638439"/>
            <a:ext cx="2743200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4"/>
          <p:cNvSpPr txBox="1">
            <a:spLocks noGrp="1"/>
          </p:cNvSpPr>
          <p:nvPr>
            <p:ph type="ftr" idx="11"/>
          </p:nvPr>
        </p:nvSpPr>
        <p:spPr>
          <a:xfrm>
            <a:off x="4038600" y="6638439"/>
            <a:ext cx="4114800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4"/>
          <p:cNvSpPr txBox="1">
            <a:spLocks noGrp="1"/>
          </p:cNvSpPr>
          <p:nvPr>
            <p:ph type="sldNum" idx="12"/>
          </p:nvPr>
        </p:nvSpPr>
        <p:spPr>
          <a:xfrm>
            <a:off x="11610976" y="6651885"/>
            <a:ext cx="545151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5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5" name="Google Shape;85;p4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6" name="Google Shape;86;p45"/>
          <p:cNvSpPr txBox="1">
            <a:spLocks noGrp="1"/>
          </p:cNvSpPr>
          <p:nvPr>
            <p:ph type="dt" idx="10"/>
          </p:nvPr>
        </p:nvSpPr>
        <p:spPr>
          <a:xfrm>
            <a:off x="35873" y="6638439"/>
            <a:ext cx="2743200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5"/>
          <p:cNvSpPr txBox="1">
            <a:spLocks noGrp="1"/>
          </p:cNvSpPr>
          <p:nvPr>
            <p:ph type="ftr" idx="11"/>
          </p:nvPr>
        </p:nvSpPr>
        <p:spPr>
          <a:xfrm>
            <a:off x="4038600" y="6638439"/>
            <a:ext cx="4114800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5"/>
          <p:cNvSpPr txBox="1">
            <a:spLocks noGrp="1"/>
          </p:cNvSpPr>
          <p:nvPr>
            <p:ph type="sldNum" idx="12"/>
          </p:nvPr>
        </p:nvSpPr>
        <p:spPr>
          <a:xfrm>
            <a:off x="11610976" y="6651885"/>
            <a:ext cx="545151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9" name="Google Shape;89;p45"/>
          <p:cNvSpPr txBox="1"/>
          <p:nvPr/>
        </p:nvSpPr>
        <p:spPr>
          <a:xfrm>
            <a:off x="1612812" y="207308"/>
            <a:ext cx="8947522" cy="759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IN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4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4" name="Google Shape;94;p46"/>
          <p:cNvSpPr txBox="1">
            <a:spLocks noGrp="1"/>
          </p:cNvSpPr>
          <p:nvPr>
            <p:ph type="dt" idx="10"/>
          </p:nvPr>
        </p:nvSpPr>
        <p:spPr>
          <a:xfrm>
            <a:off x="35873" y="6638439"/>
            <a:ext cx="2743200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46"/>
          <p:cNvSpPr txBox="1">
            <a:spLocks noGrp="1"/>
          </p:cNvSpPr>
          <p:nvPr>
            <p:ph type="ftr" idx="11"/>
          </p:nvPr>
        </p:nvSpPr>
        <p:spPr>
          <a:xfrm>
            <a:off x="4038600" y="6638439"/>
            <a:ext cx="4114800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46"/>
          <p:cNvSpPr txBox="1">
            <a:spLocks noGrp="1"/>
          </p:cNvSpPr>
          <p:nvPr>
            <p:ph type="sldNum" idx="12"/>
          </p:nvPr>
        </p:nvSpPr>
        <p:spPr>
          <a:xfrm>
            <a:off x="11610976" y="6651885"/>
            <a:ext cx="545151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7"/>
          <p:cNvSpPr txBox="1">
            <a:spLocks noGrp="1"/>
          </p:cNvSpPr>
          <p:nvPr>
            <p:ph type="title"/>
          </p:nvPr>
        </p:nvSpPr>
        <p:spPr>
          <a:xfrm>
            <a:off x="838200" y="352426"/>
            <a:ext cx="9791700" cy="60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7"/>
          <p:cNvSpPr txBox="1">
            <a:spLocks noGrp="1"/>
          </p:cNvSpPr>
          <p:nvPr>
            <p:ph type="body" idx="1"/>
          </p:nvPr>
        </p:nvSpPr>
        <p:spPr>
          <a:xfrm rot="5400000">
            <a:off x="3674091" y="-1502746"/>
            <a:ext cx="4843819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47"/>
          <p:cNvSpPr txBox="1">
            <a:spLocks noGrp="1"/>
          </p:cNvSpPr>
          <p:nvPr>
            <p:ph type="dt" idx="10"/>
          </p:nvPr>
        </p:nvSpPr>
        <p:spPr>
          <a:xfrm>
            <a:off x="35873" y="6638439"/>
            <a:ext cx="2743200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7"/>
          <p:cNvSpPr txBox="1">
            <a:spLocks noGrp="1"/>
          </p:cNvSpPr>
          <p:nvPr>
            <p:ph type="ftr" idx="11"/>
          </p:nvPr>
        </p:nvSpPr>
        <p:spPr>
          <a:xfrm>
            <a:off x="4038600" y="6638439"/>
            <a:ext cx="4114800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47"/>
          <p:cNvSpPr txBox="1">
            <a:spLocks noGrp="1"/>
          </p:cNvSpPr>
          <p:nvPr>
            <p:ph type="sldNum" idx="12"/>
          </p:nvPr>
        </p:nvSpPr>
        <p:spPr>
          <a:xfrm>
            <a:off x="11610976" y="6651885"/>
            <a:ext cx="545151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8"/>
          <p:cNvSpPr txBox="1">
            <a:spLocks noGrp="1"/>
          </p:cNvSpPr>
          <p:nvPr>
            <p:ph type="title"/>
          </p:nvPr>
        </p:nvSpPr>
        <p:spPr>
          <a:xfrm rot="5400000">
            <a:off x="7614546" y="2437707"/>
            <a:ext cx="4849609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8"/>
          <p:cNvSpPr txBox="1">
            <a:spLocks noGrp="1"/>
          </p:cNvSpPr>
          <p:nvPr>
            <p:ph type="body" idx="1"/>
          </p:nvPr>
        </p:nvSpPr>
        <p:spPr>
          <a:xfrm rot="5400000">
            <a:off x="2280546" y="-114991"/>
            <a:ext cx="484960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48"/>
          <p:cNvSpPr txBox="1">
            <a:spLocks noGrp="1"/>
          </p:cNvSpPr>
          <p:nvPr>
            <p:ph type="dt" idx="10"/>
          </p:nvPr>
        </p:nvSpPr>
        <p:spPr>
          <a:xfrm>
            <a:off x="35873" y="6638439"/>
            <a:ext cx="2743200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48"/>
          <p:cNvSpPr txBox="1">
            <a:spLocks noGrp="1"/>
          </p:cNvSpPr>
          <p:nvPr>
            <p:ph type="ftr" idx="11"/>
          </p:nvPr>
        </p:nvSpPr>
        <p:spPr>
          <a:xfrm>
            <a:off x="4038600" y="6638439"/>
            <a:ext cx="4114800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48"/>
          <p:cNvSpPr txBox="1">
            <a:spLocks noGrp="1"/>
          </p:cNvSpPr>
          <p:nvPr>
            <p:ph type="sldNum" idx="12"/>
          </p:nvPr>
        </p:nvSpPr>
        <p:spPr>
          <a:xfrm>
            <a:off x="11610976" y="6651885"/>
            <a:ext cx="545151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0"/>
          <p:cNvSpPr/>
          <p:nvPr/>
        </p:nvSpPr>
        <p:spPr>
          <a:xfrm>
            <a:off x="504826" y="4729163"/>
            <a:ext cx="266700" cy="110966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0"/>
          <p:cNvSpPr/>
          <p:nvPr/>
        </p:nvSpPr>
        <p:spPr>
          <a:xfrm>
            <a:off x="6580262" y="4722238"/>
            <a:ext cx="5306937" cy="2135763"/>
          </a:xfrm>
          <a:prstGeom prst="parallelogram">
            <a:avLst>
              <a:gd name="adj" fmla="val 71377"/>
            </a:avLst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0"/>
          <p:cNvSpPr txBox="1"/>
          <p:nvPr/>
        </p:nvSpPr>
        <p:spPr>
          <a:xfrm>
            <a:off x="784290" y="4735629"/>
            <a:ext cx="5191060" cy="5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Mistral Solutions Pvt. Ltd.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No.60, 'Adarsh Regent', 100 Ft. Ring Road, Domlur Ext, Bangalore - 56 0 071 India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Tel: +91-80-4562 1100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0"/>
          <p:cNvSpPr txBox="1"/>
          <p:nvPr/>
        </p:nvSpPr>
        <p:spPr>
          <a:xfrm>
            <a:off x="784290" y="5333933"/>
            <a:ext cx="3902010" cy="5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Mistral Solutions Inc.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43092 Christy Street, Fremont, CA 94538, USA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Phone: +1-408-705-2240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0"/>
          <p:cNvSpPr/>
          <p:nvPr/>
        </p:nvSpPr>
        <p:spPr>
          <a:xfrm>
            <a:off x="4700400" y="4106125"/>
            <a:ext cx="27912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www.mistralsolutions.com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" name="Google Shape;116;p40"/>
          <p:cNvGrpSpPr/>
          <p:nvPr/>
        </p:nvGrpSpPr>
        <p:grpSpPr>
          <a:xfrm>
            <a:off x="7927975" y="6222003"/>
            <a:ext cx="2008730" cy="284314"/>
            <a:chOff x="7877175" y="6228353"/>
            <a:chExt cx="2008730" cy="284314"/>
          </a:xfrm>
        </p:grpSpPr>
        <p:pic>
          <p:nvPicPr>
            <p:cNvPr id="117" name="Google Shape;117;p40" descr="Image result for instagram logo png transparent backgroun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627468" y="6233158"/>
              <a:ext cx="258437" cy="27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40" descr="Z:\Apoorva\Corporate PPT\Twitter-High-Quality-PNG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292686" y="6228353"/>
              <a:ext cx="258437" cy="27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40" descr="Z:\Apoorva\Corporate PPT\unnamed.png"/>
            <p:cNvPicPr preferRelativeResize="0"/>
            <p:nvPr/>
          </p:nvPicPr>
          <p:blipFill rotWithShape="1">
            <a:blip r:embed="rId4">
              <a:alphaModFix/>
            </a:blip>
            <a:srcRect l="8518" t="20160" r="6709" b="20749"/>
            <a:stretch/>
          </p:blipFill>
          <p:spPr>
            <a:xfrm>
              <a:off x="9097656" y="6231731"/>
              <a:ext cx="385762" cy="2809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40" descr="Z:\Apoorva\Corporate PPT\LinkedIn_logo_initials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695171" y="6233158"/>
              <a:ext cx="258437" cy="27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40" descr="Z:\Apoorva\Corporate PPT\FB.png"/>
            <p:cNvPicPr preferRelativeResize="0"/>
            <p:nvPr/>
          </p:nvPicPr>
          <p:blipFill rotWithShape="1">
            <a:blip r:embed="rId6">
              <a:alphaModFix/>
            </a:blip>
            <a:srcRect l="20856" r="19686"/>
            <a:stretch/>
          </p:blipFill>
          <p:spPr>
            <a:xfrm>
              <a:off x="7877175" y="6240970"/>
              <a:ext cx="271463" cy="270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2" name="Google Shape;122;p40"/>
          <p:cNvSpPr txBox="1"/>
          <p:nvPr/>
        </p:nvSpPr>
        <p:spPr>
          <a:xfrm>
            <a:off x="7601927" y="5648008"/>
            <a:ext cx="26416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FOLLOW US 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0"/>
          <p:cNvSpPr/>
          <p:nvPr/>
        </p:nvSpPr>
        <p:spPr>
          <a:xfrm>
            <a:off x="-3174" y="6648450"/>
            <a:ext cx="6689724" cy="211930"/>
          </a:xfrm>
          <a:custGeom>
            <a:avLst/>
            <a:gdLst/>
            <a:ahLst/>
            <a:cxnLst/>
            <a:rect l="l" t="t" r="r" b="b"/>
            <a:pathLst>
              <a:path w="9807380" h="211930" extrusionOk="0">
                <a:moveTo>
                  <a:pt x="0" y="208755"/>
                </a:moveTo>
                <a:cubicBezTo>
                  <a:pt x="1173" y="139964"/>
                  <a:pt x="2347" y="71172"/>
                  <a:pt x="3520" y="2381"/>
                </a:cubicBezTo>
                <a:lnTo>
                  <a:pt x="9807380" y="0"/>
                </a:lnTo>
                <a:lnTo>
                  <a:pt x="9588155" y="211930"/>
                </a:lnTo>
                <a:lnTo>
                  <a:pt x="0" y="208755"/>
                </a:lnTo>
                <a:close/>
              </a:path>
            </a:pathLst>
          </a:custGeom>
          <a:solidFill>
            <a:srgbClr val="DE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0"/>
          <p:cNvSpPr/>
          <p:nvPr/>
        </p:nvSpPr>
        <p:spPr>
          <a:xfrm>
            <a:off x="10398125" y="6674451"/>
            <a:ext cx="1795076" cy="183549"/>
          </a:xfrm>
          <a:custGeom>
            <a:avLst/>
            <a:gdLst/>
            <a:ahLst/>
            <a:cxnLst/>
            <a:rect l="l" t="t" r="r" b="b"/>
            <a:pathLst>
              <a:path w="583796" h="209549" extrusionOk="0">
                <a:moveTo>
                  <a:pt x="0" y="209549"/>
                </a:moveTo>
                <a:lnTo>
                  <a:pt x="42803" y="0"/>
                </a:lnTo>
                <a:lnTo>
                  <a:pt x="583406" y="0"/>
                </a:lnTo>
                <a:lnTo>
                  <a:pt x="583796" y="209548"/>
                </a:lnTo>
                <a:lnTo>
                  <a:pt x="0" y="209549"/>
                </a:lnTo>
                <a:close/>
              </a:path>
            </a:pathLst>
          </a:custGeom>
          <a:solidFill>
            <a:srgbClr val="DE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4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144999" y="1443475"/>
            <a:ext cx="3902000" cy="1916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9"/>
          <p:cNvSpPr txBox="1">
            <a:spLocks noGrp="1"/>
          </p:cNvSpPr>
          <p:nvPr>
            <p:ph type="title"/>
          </p:nvPr>
        </p:nvSpPr>
        <p:spPr>
          <a:xfrm>
            <a:off x="838200" y="336550"/>
            <a:ext cx="10515600" cy="6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" name="Google Shape;128;p49"/>
          <p:cNvSpPr/>
          <p:nvPr/>
        </p:nvSpPr>
        <p:spPr>
          <a:xfrm>
            <a:off x="11041168" y="0"/>
            <a:ext cx="1055317" cy="99131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9"/>
          <p:cNvSpPr/>
          <p:nvPr/>
        </p:nvSpPr>
        <p:spPr>
          <a:xfrm>
            <a:off x="-3175" y="6650831"/>
            <a:ext cx="9737725" cy="209549"/>
          </a:xfrm>
          <a:custGeom>
            <a:avLst/>
            <a:gdLst/>
            <a:ahLst/>
            <a:cxnLst/>
            <a:rect l="l" t="t" r="r" b="b"/>
            <a:pathLst>
              <a:path w="9737725" h="209549" extrusionOk="0">
                <a:moveTo>
                  <a:pt x="0" y="206374"/>
                </a:moveTo>
                <a:cubicBezTo>
                  <a:pt x="1173" y="137583"/>
                  <a:pt x="2347" y="68791"/>
                  <a:pt x="3520" y="0"/>
                </a:cubicBezTo>
                <a:lnTo>
                  <a:pt x="9737725" y="0"/>
                </a:lnTo>
                <a:lnTo>
                  <a:pt x="9588155" y="209549"/>
                </a:lnTo>
                <a:lnTo>
                  <a:pt x="0" y="206374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9"/>
          <p:cNvSpPr/>
          <p:nvPr/>
        </p:nvSpPr>
        <p:spPr>
          <a:xfrm>
            <a:off x="9625011" y="6586539"/>
            <a:ext cx="2143126" cy="271462"/>
          </a:xfrm>
          <a:prstGeom prst="parallelogram">
            <a:avLst>
              <a:gd name="adj" fmla="val 71377"/>
            </a:avLst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9"/>
          <p:cNvSpPr/>
          <p:nvPr/>
        </p:nvSpPr>
        <p:spPr>
          <a:xfrm>
            <a:off x="11610976" y="6648451"/>
            <a:ext cx="583406" cy="209549"/>
          </a:xfrm>
          <a:custGeom>
            <a:avLst/>
            <a:gdLst/>
            <a:ahLst/>
            <a:cxnLst/>
            <a:rect l="l" t="t" r="r" b="b"/>
            <a:pathLst>
              <a:path w="583406" h="209549" extrusionOk="0">
                <a:moveTo>
                  <a:pt x="0" y="209549"/>
                </a:moveTo>
                <a:lnTo>
                  <a:pt x="149570" y="0"/>
                </a:lnTo>
                <a:lnTo>
                  <a:pt x="583406" y="0"/>
                </a:lnTo>
                <a:lnTo>
                  <a:pt x="581474" y="209549"/>
                </a:lnTo>
                <a:lnTo>
                  <a:pt x="0" y="209549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83897" y="325352"/>
            <a:ext cx="964962" cy="47616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9"/>
          <p:cNvSpPr txBox="1">
            <a:spLocks noGrp="1"/>
          </p:cNvSpPr>
          <p:nvPr>
            <p:ph type="body" idx="1"/>
          </p:nvPr>
        </p:nvSpPr>
        <p:spPr>
          <a:xfrm>
            <a:off x="838201" y="1356437"/>
            <a:ext cx="10245696" cy="4917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34" name="Google Shape;134;p49"/>
          <p:cNvCxnSpPr/>
          <p:nvPr/>
        </p:nvCxnSpPr>
        <p:spPr>
          <a:xfrm>
            <a:off x="838200" y="982766"/>
            <a:ext cx="10126054" cy="0"/>
          </a:xfrm>
          <a:prstGeom prst="straightConnector1">
            <a:avLst/>
          </a:prstGeom>
          <a:noFill/>
          <a:ln w="9525" cap="flat" cmpd="sng">
            <a:solidFill>
              <a:srgbClr val="333333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/>
          <p:nvPr/>
        </p:nvSpPr>
        <p:spPr>
          <a:xfrm>
            <a:off x="11041168" y="0"/>
            <a:ext cx="1055317" cy="99131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34"/>
          <p:cNvSpPr txBox="1">
            <a:spLocks noGrp="1"/>
          </p:cNvSpPr>
          <p:nvPr>
            <p:ph type="title"/>
          </p:nvPr>
        </p:nvSpPr>
        <p:spPr>
          <a:xfrm>
            <a:off x="838200" y="352426"/>
            <a:ext cx="9791700" cy="60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4"/>
          <p:cNvSpPr txBox="1">
            <a:spLocks noGrp="1"/>
          </p:cNvSpPr>
          <p:nvPr>
            <p:ph type="body" idx="1"/>
          </p:nvPr>
        </p:nvSpPr>
        <p:spPr>
          <a:xfrm>
            <a:off x="838200" y="1333144"/>
            <a:ext cx="10515600" cy="4843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4"/>
          <p:cNvSpPr/>
          <p:nvPr/>
        </p:nvSpPr>
        <p:spPr>
          <a:xfrm>
            <a:off x="-3175" y="6650831"/>
            <a:ext cx="9737725" cy="209549"/>
          </a:xfrm>
          <a:custGeom>
            <a:avLst/>
            <a:gdLst/>
            <a:ahLst/>
            <a:cxnLst/>
            <a:rect l="l" t="t" r="r" b="b"/>
            <a:pathLst>
              <a:path w="9737725" h="209549" extrusionOk="0">
                <a:moveTo>
                  <a:pt x="0" y="206374"/>
                </a:moveTo>
                <a:cubicBezTo>
                  <a:pt x="1173" y="137583"/>
                  <a:pt x="2347" y="68791"/>
                  <a:pt x="3520" y="0"/>
                </a:cubicBezTo>
                <a:lnTo>
                  <a:pt x="9737725" y="0"/>
                </a:lnTo>
                <a:lnTo>
                  <a:pt x="9588155" y="209549"/>
                </a:lnTo>
                <a:lnTo>
                  <a:pt x="0" y="206374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4"/>
          <p:cNvSpPr/>
          <p:nvPr/>
        </p:nvSpPr>
        <p:spPr>
          <a:xfrm>
            <a:off x="9625011" y="6586539"/>
            <a:ext cx="2143126" cy="271462"/>
          </a:xfrm>
          <a:prstGeom prst="parallelogram">
            <a:avLst>
              <a:gd name="adj" fmla="val 71377"/>
            </a:avLst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4"/>
          <p:cNvSpPr/>
          <p:nvPr/>
        </p:nvSpPr>
        <p:spPr>
          <a:xfrm>
            <a:off x="11610976" y="6648451"/>
            <a:ext cx="583406" cy="209549"/>
          </a:xfrm>
          <a:custGeom>
            <a:avLst/>
            <a:gdLst/>
            <a:ahLst/>
            <a:cxnLst/>
            <a:rect l="l" t="t" r="r" b="b"/>
            <a:pathLst>
              <a:path w="583406" h="209549" extrusionOk="0">
                <a:moveTo>
                  <a:pt x="0" y="209549"/>
                </a:moveTo>
                <a:lnTo>
                  <a:pt x="149570" y="0"/>
                </a:lnTo>
                <a:lnTo>
                  <a:pt x="583406" y="0"/>
                </a:lnTo>
                <a:lnTo>
                  <a:pt x="581474" y="209549"/>
                </a:lnTo>
                <a:lnTo>
                  <a:pt x="0" y="209549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34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083897" y="325352"/>
            <a:ext cx="964962" cy="4761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34"/>
          <p:cNvCxnSpPr/>
          <p:nvPr/>
        </p:nvCxnSpPr>
        <p:spPr>
          <a:xfrm>
            <a:off x="838200" y="982766"/>
            <a:ext cx="10126054" cy="0"/>
          </a:xfrm>
          <a:prstGeom prst="straightConnector1">
            <a:avLst/>
          </a:prstGeom>
          <a:noFill/>
          <a:ln w="9525" cap="flat" cmpd="sng">
            <a:solidFill>
              <a:srgbClr val="33333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" name="Google Shape;18;p34"/>
          <p:cNvSpPr txBox="1">
            <a:spLocks noGrp="1"/>
          </p:cNvSpPr>
          <p:nvPr>
            <p:ph type="dt" idx="10"/>
          </p:nvPr>
        </p:nvSpPr>
        <p:spPr>
          <a:xfrm>
            <a:off x="35873" y="6638439"/>
            <a:ext cx="2743200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ftr" idx="11"/>
          </p:nvPr>
        </p:nvSpPr>
        <p:spPr>
          <a:xfrm>
            <a:off x="4038600" y="6638439"/>
            <a:ext cx="4114800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34"/>
          <p:cNvSpPr txBox="1">
            <a:spLocks noGrp="1"/>
          </p:cNvSpPr>
          <p:nvPr>
            <p:ph type="sldNum" idx="12"/>
          </p:nvPr>
        </p:nvSpPr>
        <p:spPr>
          <a:xfrm>
            <a:off x="11610976" y="6651885"/>
            <a:ext cx="545151" cy="2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"/>
          <p:cNvSpPr txBox="1">
            <a:spLocks noGrp="1"/>
          </p:cNvSpPr>
          <p:nvPr>
            <p:ph type="ctrTitle"/>
          </p:nvPr>
        </p:nvSpPr>
        <p:spPr>
          <a:xfrm>
            <a:off x="247650" y="2443049"/>
            <a:ext cx="6280969" cy="79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dirty="0"/>
              <a:t>DRONE or NOT</a:t>
            </a:r>
            <a:endParaRPr dirty="0"/>
          </a:p>
        </p:txBody>
      </p:sp>
      <p:sp>
        <p:nvSpPr>
          <p:cNvPr id="140" name="Google Shape;140;p1"/>
          <p:cNvSpPr txBox="1">
            <a:spLocks noGrp="1"/>
          </p:cNvSpPr>
          <p:nvPr>
            <p:ph type="body" idx="4294967295"/>
          </p:nvPr>
        </p:nvSpPr>
        <p:spPr>
          <a:xfrm>
            <a:off x="247650" y="5478464"/>
            <a:ext cx="3960813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600" dirty="0"/>
              <a:t>BALASUBRAMANIAN G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600" dirty="0"/>
              <a:t>24205037</a:t>
            </a:r>
            <a:endParaRPr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200" name="top-bar"/>
          <p:cNvSpPr>
            <a:spLocks noGrp="1"/>
          </p:cNvSpPr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01" name="title"/>
          <p:cNvSpPr txBox="1">
            <a:spLocks noGrp="1"/>
          </p:cNvSpPr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2200" b="1" dirty="0">
                <a:solidFill>
                  <a:srgbClr val="231F20"/>
                </a:solidFill>
                <a:latin typeface="Calibri"/>
              </a:rPr>
              <a:t xml:space="preserve">Project Overview — Drone vs Bird Classification using mmWave Radar</a:t>
            </a:r>
          </a:p>
        </p:txBody>
      </p:sp>
      <p:sp xmlns:a="http://schemas.openxmlformats.org/drawingml/2006/main" xmlns:p="http://schemas.openxmlformats.org/presentationml/2006/main">
        <p:nvSpPr>
          <p:cNvPr id="202" name="div"/>
          <p:cNvSpPr>
            <a:spLocks noGrp="1"/>
          </p:cNvSpPr>
          <p:nvPr/>
        </p:nvSpPr>
        <p:spPr>
          <a:xfrm>
            <a:off x="365760" y="841248"/>
            <a:ext cx="1143000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03" name="left-head"/>
          <p:cNvSpPr txBox="1">
            <a:spLocks noGrp="1"/>
          </p:cNvSpPr>
          <p:nvPr/>
        </p:nvSpPr>
        <p:spPr>
          <a:xfrm>
            <a:off x="365760" y="960120"/>
            <a:ext cx="5303520" cy="3657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300" b="1" dirty="0">
                <a:solidFill>
                  <a:srgbClr val="C00000"/>
                </a:solidFill>
                <a:latin typeface="Calibri"/>
              </a:rPr>
              <a:t xml:space="preserve">OBJECTIVE</a:t>
            </a:r>
          </a:p>
        </p:txBody>
      </p:sp>
      <p:sp xmlns:a="http://schemas.openxmlformats.org/drawingml/2006/main" xmlns:p="http://schemas.openxmlformats.org/presentationml/2006/main">
        <p:nvSpPr>
          <p:cNvPr id="204" name="left-body"/>
          <p:cNvSpPr txBox="1">
            <a:spLocks noGrp="1"/>
          </p:cNvSpPr>
          <p:nvPr/>
        </p:nvSpPr>
        <p:spPr>
          <a:xfrm>
            <a:off x="365760" y="1325880"/>
            <a:ext cx="5303520" cy="182880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300" dirty="0">
                <a:solidFill>
                  <a:srgbClr val="231F20"/>
                </a:solidFill>
                <a:latin typeface="Calibri"/>
              </a:rPr>
              <a:t xml:space="preserve">Classify aerial targets (drone vs bird) in real-time using a 60 GHz FMCW mmWave radar, micro-Doppler spectrograms, and deep learning — without optical sensors or GPS.</a:t>
            </a:r>
          </a:p>
        </p:txBody>
      </p:sp>
      <p:sp xmlns:a="http://schemas.openxmlformats.org/drawingml/2006/main" xmlns:p="http://schemas.openxmlformats.org/presentationml/2006/main">
        <p:nvSpPr>
          <p:cNvPr id="205" name="hw-head"/>
          <p:cNvSpPr txBox="1">
            <a:spLocks noGrp="1"/>
          </p:cNvSpPr>
          <p:nvPr/>
        </p:nvSpPr>
        <p:spPr>
          <a:xfrm>
            <a:off x="365760" y="3200400"/>
            <a:ext cx="5303520" cy="3657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300" b="1" dirty="0">
                <a:solidFill>
                  <a:srgbClr val="C00000"/>
                </a:solidFill>
                <a:latin typeface="Calibri"/>
              </a:rPr>
              <a:t xml:space="preserve">HARDWARE</a:t>
            </a:r>
          </a:p>
        </p:txBody>
      </p:sp>
      <p:sp xmlns:a="http://schemas.openxmlformats.org/drawingml/2006/main" xmlns:p="http://schemas.openxmlformats.org/presentationml/2006/main">
        <p:nvSpPr>
          <p:cNvPr id="206" name="hw-body"/>
          <p:cNvSpPr txBox="1">
            <a:spLocks noGrp="1"/>
          </p:cNvSpPr>
          <p:nvPr/>
        </p:nvSpPr>
        <p:spPr>
          <a:xfrm>
            <a:off x="365760" y="3566160"/>
            <a:ext cx="5303520" cy="14630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231F20"/>
                </a:solidFill>
                <a:latin typeface="Calibri"/>
              </a:rPr>
              <a:t xml:space="preserve">• TI IWR6843AOP EVM (Rev D+) — 60 GHz, 4 RX, 3 TX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231F20"/>
                </a:solidFill>
                <a:latin typeface="Calibri"/>
              </a:rPr>
              <a:t xml:space="preserve">
• DCA1000EVM — Raw ADC data capture via LVDS + Ethernet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231F20"/>
                </a:solidFill>
                <a:latin typeface="Calibri"/>
              </a:rPr>
              <a:t xml:space="preserve">
• mmWave Studio 2.1.1.0 + TI mmWave SDK 3.06.02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231F20"/>
                </a:solidFill>
                <a:latin typeface="Calibri"/>
              </a:rPr>
              <a:t xml:space="preserve">
• Range resolution: 0.195 m  |  Max range: 50 m  |  128 Doppler bins</a:t>
            </a:r>
          </a:p>
        </p:txBody>
      </p:sp>
      <p:sp xmlns:a="http://schemas.openxmlformats.org/drawingml/2006/main" xmlns:p="http://schemas.openxmlformats.org/presentationml/2006/main">
        <p:nvSpPr>
          <p:cNvPr id="207" name="right-head"/>
          <p:cNvSpPr txBox="1">
            <a:spLocks noGrp="1"/>
          </p:cNvSpPr>
          <p:nvPr/>
        </p:nvSpPr>
        <p:spPr>
          <a:xfrm>
            <a:off x="6217920" y="960120"/>
            <a:ext cx="5577840" cy="3657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300" b="1" dirty="0">
                <a:solidFill>
                  <a:srgbClr val="C00000"/>
                </a:solidFill>
                <a:latin typeface="Calibri"/>
              </a:rPr>
              <a:t xml:space="preserve">3-PHASE APPROACH</a:t>
            </a:r>
          </a:p>
        </p:txBody>
      </p:sp>
      <p:sp xmlns:a="http://schemas.openxmlformats.org/drawingml/2006/main" xmlns:p="http://schemas.openxmlformats.org/presentationml/2006/main">
        <p:nvSpPr>
          <p:cNvPr id="208" name="ph-bg-Phase 1"/>
          <p:cNvSpPr>
            <a:spLocks noGrp="1"/>
          </p:cNvSpPr>
          <p:nvPr/>
        </p:nvSpPr>
        <p:spPr>
          <a:xfrm>
            <a:off x="6217920" y="1371600"/>
            <a:ext cx="557784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09" name="ph-tag-Phase 1"/>
          <p:cNvSpPr txBox="1">
            <a:spLocks noGrp="1"/>
          </p:cNvSpPr>
          <p:nvPr/>
        </p:nvSpPr>
        <p:spPr>
          <a:xfrm>
            <a:off x="6263640" y="1444752"/>
            <a:ext cx="914400" cy="3200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 xml:space="preserve">Phase 1</a:t>
            </a:r>
          </a:p>
        </p:txBody>
      </p:sp>
      <p:sp xmlns:a="http://schemas.openxmlformats.org/drawingml/2006/main" xmlns:p="http://schemas.openxmlformats.org/presentationml/2006/main">
        <p:nvSpPr>
          <p:cNvPr id="210" name="ph-tag-fill-Phase 1"/>
          <p:cNvSpPr>
            <a:spLocks noGrp="1"/>
          </p:cNvSpPr>
          <p:nvPr/>
        </p:nvSpPr>
        <p:spPr>
          <a:xfrm>
            <a:off x="6263640" y="1444752"/>
            <a:ext cx="100584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00" name="ph-tag-txt-Phase 1"/>
          <p:cNvSpPr txBox="1">
            <a:spLocks noGrp="1"/>
          </p:cNvSpPr>
          <p:nvPr/>
        </p:nvSpPr>
        <p:spPr>
          <a:xfrm>
            <a:off x="6281928" y="1453896"/>
            <a:ext cx="1005840" cy="2743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ctr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 xml:space="preserve">Phase 1</a:t>
            </a:r>
          </a:p>
        </p:txBody>
      </p:sp>
      <p:sp xmlns:a="http://schemas.openxmlformats.org/drawingml/2006/main" xmlns:p="http://schemas.openxmlformats.org/presentationml/2006/main">
        <p:nvSpPr>
          <p:cNvPr id="301" name="ph-hd-Phase 1"/>
          <p:cNvSpPr txBox="1">
            <a:spLocks noGrp="1"/>
          </p:cNvSpPr>
          <p:nvPr/>
        </p:nvSpPr>
        <p:spPr>
          <a:xfrm>
            <a:off x="7406640" y="1444752"/>
            <a:ext cx="4206240" cy="3200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231F20"/>
                </a:solidFill>
                <a:latin typeface="Calibri"/>
              </a:rPr>
              <a:t xml:space="preserve">ML Baseline</a:t>
            </a:r>
          </a:p>
        </p:txBody>
      </p:sp>
      <p:sp xmlns:a="http://schemas.openxmlformats.org/drawingml/2006/main" xmlns:p="http://schemas.openxmlformats.org/presentationml/2006/main">
        <p:nvSpPr>
          <p:cNvPr id="302" name="ph-desc-Phase 1"/>
          <p:cNvSpPr txBox="1">
            <a:spLocks noGrp="1"/>
          </p:cNvSpPr>
          <p:nvPr/>
        </p:nvSpPr>
        <p:spPr>
          <a:xfrm>
            <a:off x="6263640" y="1810512"/>
            <a:ext cx="5486400" cy="8229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595959"/>
                </a:solidFill>
                <a:latin typeface="Calibri"/>
              </a:rPr>
              <a:t xml:space="preserve">Random Forest on 77 GHz SAAB dataset
17 hand-crafted features → Acc 92.9%, AUC 0.974</a:t>
            </a:r>
          </a:p>
        </p:txBody>
      </p:sp>
      <p:sp xmlns:a="http://schemas.openxmlformats.org/drawingml/2006/main" xmlns:p="http://schemas.openxmlformats.org/presentationml/2006/main">
        <p:nvSpPr>
          <p:cNvPr id="211" name="ph-bg-Phase 2"/>
          <p:cNvSpPr>
            <a:spLocks noGrp="1"/>
          </p:cNvSpPr>
          <p:nvPr/>
        </p:nvSpPr>
        <p:spPr>
          <a:xfrm>
            <a:off x="6217920" y="2944368"/>
            <a:ext cx="557784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12" name="ph-tag-Phase 2"/>
          <p:cNvSpPr txBox="1">
            <a:spLocks noGrp="1"/>
          </p:cNvSpPr>
          <p:nvPr/>
        </p:nvSpPr>
        <p:spPr>
          <a:xfrm>
            <a:off x="6263640" y="3017520"/>
            <a:ext cx="914400" cy="3200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 xml:space="preserve">Phase 2</a:t>
            </a:r>
          </a:p>
        </p:txBody>
      </p:sp>
      <p:sp xmlns:a="http://schemas.openxmlformats.org/drawingml/2006/main" xmlns:p="http://schemas.openxmlformats.org/presentationml/2006/main">
        <p:nvSpPr>
          <p:cNvPr id="213" name="ph-tag-fill-Phase 2"/>
          <p:cNvSpPr>
            <a:spLocks noGrp="1"/>
          </p:cNvSpPr>
          <p:nvPr/>
        </p:nvSpPr>
        <p:spPr>
          <a:xfrm>
            <a:off x="6263640" y="3017520"/>
            <a:ext cx="100584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04" name="ph-tag-txt-Phase 2"/>
          <p:cNvSpPr txBox="1">
            <a:spLocks noGrp="1"/>
          </p:cNvSpPr>
          <p:nvPr/>
        </p:nvSpPr>
        <p:spPr>
          <a:xfrm>
            <a:off x="6281928" y="3026663"/>
            <a:ext cx="1005840" cy="2743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ctr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 xml:space="preserve">Phase 2</a:t>
            </a:r>
          </a:p>
        </p:txBody>
      </p:sp>
      <p:sp xmlns:a="http://schemas.openxmlformats.org/drawingml/2006/main" xmlns:p="http://schemas.openxmlformats.org/presentationml/2006/main">
        <p:nvSpPr>
          <p:cNvPr id="305" name="ph-hd-Phase 2"/>
          <p:cNvSpPr txBox="1">
            <a:spLocks noGrp="1"/>
          </p:cNvSpPr>
          <p:nvPr/>
        </p:nvSpPr>
        <p:spPr>
          <a:xfrm>
            <a:off x="7406640" y="3017520"/>
            <a:ext cx="4206240" cy="3200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231F20"/>
                </a:solidFill>
                <a:latin typeface="Calibri"/>
              </a:rPr>
              <a:t xml:space="preserve">Deep Learning</a:t>
            </a:r>
          </a:p>
        </p:txBody>
      </p:sp>
      <p:sp xmlns:a="http://schemas.openxmlformats.org/drawingml/2006/main" xmlns:p="http://schemas.openxmlformats.org/presentationml/2006/main">
        <p:nvSpPr>
          <p:cNvPr id="306" name="ph-desc-Phase 2"/>
          <p:cNvSpPr txBox="1">
            <a:spLocks noGrp="1"/>
          </p:cNvSpPr>
          <p:nvPr/>
        </p:nvSpPr>
        <p:spPr>
          <a:xfrm>
            <a:off x="6263640" y="3383279"/>
            <a:ext cx="5486400" cy="8229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595959"/>
                </a:solidFill>
                <a:latin typeface="Calibri"/>
              </a:rPr>
              <a:t xml:space="preserve">MicroDopplerCNN (SE-ResNet) on IEEE 60 GHz dataset
STFT spectrograms → Mean Acc 87.3%, AUC 0.885</a:t>
            </a:r>
          </a:p>
        </p:txBody>
      </p:sp>
      <p:sp xmlns:a="http://schemas.openxmlformats.org/drawingml/2006/main" xmlns:p="http://schemas.openxmlformats.org/presentationml/2006/main">
        <p:nvSpPr>
          <p:cNvPr id="214" name="ph-bg-Phase 3"/>
          <p:cNvSpPr>
            <a:spLocks noGrp="1"/>
          </p:cNvSpPr>
          <p:nvPr/>
        </p:nvSpPr>
        <p:spPr>
          <a:xfrm>
            <a:off x="6217920" y="4517136"/>
            <a:ext cx="557784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15" name="ph-tag-Phase 3"/>
          <p:cNvSpPr txBox="1">
            <a:spLocks noGrp="1"/>
          </p:cNvSpPr>
          <p:nvPr/>
        </p:nvSpPr>
        <p:spPr>
          <a:xfrm>
            <a:off x="6263640" y="4590288"/>
            <a:ext cx="914400" cy="3200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 xml:space="preserve">Phase 3</a:t>
            </a:r>
          </a:p>
        </p:txBody>
      </p:sp>
      <p:sp xmlns:a="http://schemas.openxmlformats.org/drawingml/2006/main" xmlns:p="http://schemas.openxmlformats.org/presentationml/2006/main">
        <p:nvSpPr>
          <p:cNvPr id="216" name="ph-tag-fill-Phase 3"/>
          <p:cNvSpPr>
            <a:spLocks noGrp="1"/>
          </p:cNvSpPr>
          <p:nvPr/>
        </p:nvSpPr>
        <p:spPr>
          <a:xfrm>
            <a:off x="6263640" y="4590288"/>
            <a:ext cx="100584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08" name="ph-tag-txt-Phase 3"/>
          <p:cNvSpPr txBox="1">
            <a:spLocks noGrp="1"/>
          </p:cNvSpPr>
          <p:nvPr/>
        </p:nvSpPr>
        <p:spPr>
          <a:xfrm>
            <a:off x="6281928" y="4599431"/>
            <a:ext cx="1005840" cy="2743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ctr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 xml:space="preserve">Phase 3</a:t>
            </a:r>
          </a:p>
        </p:txBody>
      </p:sp>
      <p:sp xmlns:a="http://schemas.openxmlformats.org/drawingml/2006/main" xmlns:p="http://schemas.openxmlformats.org/presentationml/2006/main">
        <p:nvSpPr>
          <p:cNvPr id="309" name="ph-hd-Phase 3"/>
          <p:cNvSpPr txBox="1">
            <a:spLocks noGrp="1"/>
          </p:cNvSpPr>
          <p:nvPr/>
        </p:nvSpPr>
        <p:spPr>
          <a:xfrm>
            <a:off x="7406640" y="4590288"/>
            <a:ext cx="4206240" cy="3200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231F20"/>
                </a:solidFill>
                <a:latin typeface="Calibri"/>
              </a:rPr>
              <a:t xml:space="preserve">Live Capture</a:t>
            </a:r>
          </a:p>
        </p:txBody>
      </p:sp>
      <p:sp xmlns:a="http://schemas.openxmlformats.org/drawingml/2006/main" xmlns:p="http://schemas.openxmlformats.org/presentationml/2006/main">
        <p:nvSpPr>
          <p:cNvPr id="310" name="ph-desc-Phase 3"/>
          <p:cNvSpPr txBox="1">
            <a:spLocks noGrp="1"/>
          </p:cNvSpPr>
          <p:nvPr/>
        </p:nvSpPr>
        <p:spPr>
          <a:xfrm>
            <a:off x="6263640" y="4956048"/>
            <a:ext cx="5486400" cy="8229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595959"/>
                </a:solidFill>
                <a:latin typeface="Calibri"/>
              </a:rPr>
              <a:t xml:space="preserve">Raw ADC capture with IWR6843AOP + DCA1000
CFAR detection → CNN → Real-time prediction</a:t>
            </a:r>
          </a:p>
        </p:txBody>
      </p:sp>
      <p:sp xmlns:a="http://schemas.openxmlformats.org/drawingml/2006/main" xmlns:p="http://schemas.openxmlformats.org/presentationml/2006/main">
        <p:nvSpPr>
          <p:cNvPr id="400" name="bot-bar"/>
          <p:cNvSpPr>
            <a:spLocks noGrp="1"/>
          </p:cNvSpPr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401" name="bot-txt"/>
          <p:cNvSpPr txBox="1">
            <a:spLocks noGrp="1"/>
          </p:cNvSpPr>
          <p:nvPr/>
        </p:nvSpPr>
        <p:spPr>
          <a:xfrm>
            <a:off x="365760" y="6665976"/>
            <a:ext cx="11430000" cy="20116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Calibri"/>
              </a:rPr>
              <a:t xml:space="preserve">Mistral Solutions  |  mmWave Radar Internship  |  Balasubramanian C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200" name="top-bar"/>
          <p:cNvSpPr>
            <a:spLocks noGrp="1"/>
          </p:cNvSpPr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01" name="title"/>
          <p:cNvSpPr txBox="1">
            <a:spLocks noGrp="1"/>
          </p:cNvSpPr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2200" b="1" dirty="0">
                <a:solidFill>
                  <a:srgbClr val="231F20"/>
                </a:solidFill>
                <a:latin typeface="Calibri"/>
              </a:rPr>
              <a:t xml:space="preserve">Phase 1 — ML Baseline: Random Forest Classifier</a:t>
            </a:r>
          </a:p>
        </p:txBody>
      </p:sp>
      <p:sp xmlns:a="http://schemas.openxmlformats.org/drawingml/2006/main" xmlns:p="http://schemas.openxmlformats.org/presentationml/2006/main">
        <p:nvSpPr>
          <p:cNvPr id="202" name="div"/>
          <p:cNvSpPr>
            <a:spLocks noGrp="1"/>
          </p:cNvSpPr>
          <p:nvPr/>
        </p:nvSpPr>
        <p:spPr>
          <a:xfrm>
            <a:off x="365760" y="841248"/>
            <a:ext cx="1143000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03" name="ds-bg"/>
          <p:cNvSpPr>
            <a:spLocks noGrp="1"/>
          </p:cNvSpPr>
          <p:nvPr/>
        </p:nvSpPr>
        <p:spPr>
          <a:xfrm>
            <a:off x="365760" y="960120"/>
            <a:ext cx="5394960" cy="2194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04" name="ds-hd"/>
          <p:cNvSpPr txBox="1">
            <a:spLocks noGrp="1"/>
          </p:cNvSpPr>
          <p:nvPr/>
        </p:nvSpPr>
        <p:spPr>
          <a:xfrm>
            <a:off x="502920" y="1024128"/>
            <a:ext cx="5120640" cy="347472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C00000"/>
                </a:solidFill>
                <a:latin typeface="Calibri"/>
              </a:rPr>
              <a:t xml:space="preserve">DATASET — SAAB SIRS 77 GHz FMCW</a:t>
            </a:r>
          </a:p>
        </p:txBody>
      </p:sp>
      <p:sp xmlns:a="http://schemas.openxmlformats.org/drawingml/2006/main" xmlns:p="http://schemas.openxmlformats.org/presentationml/2006/main">
        <p:nvSpPr>
          <p:cNvPr id="205" name="ds-body"/>
          <p:cNvSpPr txBox="1">
            <a:spLocks noGrp="1"/>
          </p:cNvSpPr>
          <p:nvPr/>
        </p:nvSpPr>
        <p:spPr>
          <a:xfrm>
            <a:off x="502920" y="1371600"/>
            <a:ext cx="5166360" cy="16459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231F20"/>
                </a:solidFill>
                <a:latin typeface="Calibri"/>
              </a:rPr>
              <a:t xml:space="preserve">• 130 samples: D1–D6 drones, 5 bird species, human walk/run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231F20"/>
                </a:solidFill>
                <a:latin typeface="Calibri"/>
              </a:rPr>
              <a:t xml:space="preserve">
• IQ matrix (range-compressed) — 9.99 Hz chirp rate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231F20"/>
                </a:solidFill>
                <a:latin typeface="Calibri"/>
              </a:rPr>
              <a:t xml:space="preserve">
• 99 binary samples used: 44 drone, 55 bird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231F20"/>
                </a:solidFill>
                <a:latin typeface="Calibri"/>
              </a:rPr>
              <a:t xml:space="preserve">
• Stratified 5-Fold Cross-Validation</a:t>
            </a:r>
          </a:p>
        </p:txBody>
      </p:sp>
      <p:sp xmlns:a="http://schemas.openxmlformats.org/drawingml/2006/main" xmlns:p="http://schemas.openxmlformats.org/presentationml/2006/main">
        <p:nvSpPr>
          <p:cNvPr id="206" name="feat-bg"/>
          <p:cNvSpPr>
            <a:spLocks noGrp="1"/>
          </p:cNvSpPr>
          <p:nvPr/>
        </p:nvSpPr>
        <p:spPr>
          <a:xfrm>
            <a:off x="365760" y="3291840"/>
            <a:ext cx="5394960" cy="2148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07" name="feat-hd"/>
          <p:cNvSpPr txBox="1">
            <a:spLocks noGrp="1"/>
          </p:cNvSpPr>
          <p:nvPr/>
        </p:nvSpPr>
        <p:spPr>
          <a:xfrm>
            <a:off x="502920" y="3355848"/>
            <a:ext cx="5120640" cy="347472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C00000"/>
                </a:solidFill>
                <a:latin typeface="Calibri"/>
              </a:rPr>
              <a:t xml:space="preserve">17 HANDCRAFTED FEATURES</a:t>
            </a:r>
          </a:p>
        </p:txBody>
      </p:sp>
      <p:sp xmlns:a="http://schemas.openxmlformats.org/drawingml/2006/main" xmlns:p="http://schemas.openxmlformats.org/presentationml/2006/main">
        <p:nvSpPr>
          <p:cNvPr id="208" name="feat-body"/>
          <p:cNvSpPr txBox="1">
            <a:spLocks noGrp="1"/>
          </p:cNvSpPr>
          <p:nvPr/>
        </p:nvSpPr>
        <p:spPr>
          <a:xfrm>
            <a:off x="502920" y="3703320"/>
            <a:ext cx="5166360" cy="160020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231F20"/>
                </a:solidFill>
                <a:latin typeface="Calibri"/>
              </a:rPr>
              <a:t xml:space="preserve">Amplitude: mean, std, max, kurtosis, skewness, energy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231F20"/>
                </a:solidFill>
                <a:latin typeface="Calibri"/>
              </a:rPr>
              <a:t xml:space="preserve">
Phase: std, mean_abs, max, kurtosis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231F20"/>
                </a:solidFill>
                <a:latin typeface="Calibri"/>
              </a:rPr>
              <a:t xml:space="preserve">
Spectral: centroid, spread, entropy, peak_freq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231F20"/>
                </a:solidFill>
                <a:latin typeface="Calibri"/>
              </a:rPr>
              <a:t xml:space="preserve">
Power: gate_power, power_variance, power_trend</a:t>
            </a:r>
          </a:p>
        </p:txBody>
      </p:sp>
      <p:sp xmlns:a="http://schemas.openxmlformats.org/drawingml/2006/main" xmlns:p="http://schemas.openxmlformats.org/presentationml/2006/main">
        <p:nvSpPr>
          <p:cNvPr id="209" name="res-hd"/>
          <p:cNvSpPr txBox="1">
            <a:spLocks noGrp="1"/>
          </p:cNvSpPr>
          <p:nvPr/>
        </p:nvSpPr>
        <p:spPr>
          <a:xfrm>
            <a:off x="6217920" y="960120"/>
            <a:ext cx="5577840" cy="3657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300" b="1" dirty="0">
                <a:solidFill>
                  <a:srgbClr val="C00000"/>
                </a:solidFill>
                <a:latin typeface="Calibri"/>
              </a:rPr>
              <a:t xml:space="preserve">RESULTS (5-Fold CV)</a:t>
            </a:r>
          </a:p>
        </p:txBody>
      </p:sp>
      <p:sp xmlns:a="http://schemas.openxmlformats.org/drawingml/2006/main" xmlns:p="http://schemas.openxmlformats.org/presentationml/2006/main">
        <p:nvSpPr>
          <p:cNvPr id="210" name="met-bg"/>
          <p:cNvSpPr>
            <a:spLocks noGrp="1"/>
          </p:cNvSpPr>
          <p:nvPr/>
        </p:nvSpPr>
        <p:spPr>
          <a:xfrm>
            <a:off x="6217920" y="1371600"/>
            <a:ext cx="1645920" cy="118872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11" name="met-val"/>
          <p:cNvSpPr txBox="1">
            <a:spLocks noGrp="1"/>
          </p:cNvSpPr>
          <p:nvPr/>
        </p:nvSpPr>
        <p:spPr>
          <a:xfrm>
            <a:off x="6263640" y="1463040"/>
            <a:ext cx="1554480" cy="6400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ctr">
              <a:spcBef>
                <a:spcPts val="200"/>
              </a:spcBef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 xml:space="preserve">92.9%</a:t>
            </a:r>
          </a:p>
        </p:txBody>
      </p:sp>
      <p:sp xmlns:a="http://schemas.openxmlformats.org/drawingml/2006/main" xmlns:p="http://schemas.openxmlformats.org/presentationml/2006/main">
        <p:nvSpPr>
          <p:cNvPr id="220" name="met-lbl"/>
          <p:cNvSpPr txBox="1">
            <a:spLocks noGrp="1"/>
          </p:cNvSpPr>
          <p:nvPr/>
        </p:nvSpPr>
        <p:spPr>
          <a:xfrm>
            <a:off x="6263640" y="2103120"/>
            <a:ext cx="1554480" cy="3200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ctr">
              <a:spcBef>
                <a:spcPts val="2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 xml:space="preserve">Accuracy</a:t>
            </a:r>
          </a:p>
        </p:txBody>
      </p:sp>
      <p:sp xmlns:a="http://schemas.openxmlformats.org/drawingml/2006/main" xmlns:p="http://schemas.openxmlformats.org/presentationml/2006/main">
        <p:nvSpPr>
          <p:cNvPr id="212" name="met-bg"/>
          <p:cNvSpPr>
            <a:spLocks noGrp="1"/>
          </p:cNvSpPr>
          <p:nvPr/>
        </p:nvSpPr>
        <p:spPr>
          <a:xfrm>
            <a:off x="8046720" y="1371600"/>
            <a:ext cx="1645920" cy="118872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13" name="met-val"/>
          <p:cNvSpPr txBox="1">
            <a:spLocks noGrp="1"/>
          </p:cNvSpPr>
          <p:nvPr/>
        </p:nvSpPr>
        <p:spPr>
          <a:xfrm>
            <a:off x="8092440" y="1463040"/>
            <a:ext cx="1554480" cy="6400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ctr">
              <a:spcBef>
                <a:spcPts val="200"/>
              </a:spcBef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 xml:space="preserve">0.919</a:t>
            </a:r>
          </a:p>
        </p:txBody>
      </p:sp>
      <p:sp xmlns:a="http://schemas.openxmlformats.org/drawingml/2006/main" xmlns:p="http://schemas.openxmlformats.org/presentationml/2006/main">
        <p:nvSpPr>
          <p:cNvPr id="222" name="met-lbl"/>
          <p:cNvSpPr txBox="1">
            <a:spLocks noGrp="1"/>
          </p:cNvSpPr>
          <p:nvPr/>
        </p:nvSpPr>
        <p:spPr>
          <a:xfrm>
            <a:off x="8092440" y="2103120"/>
            <a:ext cx="1554480" cy="3200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ctr">
              <a:spcBef>
                <a:spcPts val="2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 xml:space="preserve">F1 Score</a:t>
            </a:r>
          </a:p>
        </p:txBody>
      </p:sp>
      <p:sp xmlns:a="http://schemas.openxmlformats.org/drawingml/2006/main" xmlns:p="http://schemas.openxmlformats.org/presentationml/2006/main">
        <p:nvSpPr>
          <p:cNvPr id="214" name="met-bg"/>
          <p:cNvSpPr>
            <a:spLocks noGrp="1"/>
          </p:cNvSpPr>
          <p:nvPr/>
        </p:nvSpPr>
        <p:spPr>
          <a:xfrm>
            <a:off x="9875520" y="1371600"/>
            <a:ext cx="1645920" cy="118872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15" name="met-val"/>
          <p:cNvSpPr txBox="1">
            <a:spLocks noGrp="1"/>
          </p:cNvSpPr>
          <p:nvPr/>
        </p:nvSpPr>
        <p:spPr>
          <a:xfrm>
            <a:off x="9921240" y="1463040"/>
            <a:ext cx="1554480" cy="64008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ctr">
              <a:spcBef>
                <a:spcPts val="200"/>
              </a:spcBef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 xml:space="preserve">0.974</a:t>
            </a:r>
          </a:p>
        </p:txBody>
      </p:sp>
      <p:sp xmlns:a="http://schemas.openxmlformats.org/drawingml/2006/main" xmlns:p="http://schemas.openxmlformats.org/presentationml/2006/main">
        <p:nvSpPr>
          <p:cNvPr id="224" name="met-lbl"/>
          <p:cNvSpPr txBox="1">
            <a:spLocks noGrp="1"/>
          </p:cNvSpPr>
          <p:nvPr/>
        </p:nvSpPr>
        <p:spPr>
          <a:xfrm>
            <a:off x="9921240" y="2103120"/>
            <a:ext cx="1554480" cy="3200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ctr">
              <a:spcBef>
                <a:spcPts val="2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 xml:space="preserve">ROC-AUC</a:t>
            </a:r>
          </a:p>
        </p:txBody>
      </p:sp>
      <p:sp xmlns:a="http://schemas.openxmlformats.org/drawingml/2006/main" xmlns:p="http://schemas.openxmlformats.org/presentationml/2006/main">
        <p:nvSpPr>
          <p:cNvPr id="230" name="fi-hd"/>
          <p:cNvSpPr txBox="1">
            <a:spLocks noGrp="1"/>
          </p:cNvSpPr>
          <p:nvPr/>
        </p:nvSpPr>
        <p:spPr>
          <a:xfrm>
            <a:off x="6217920" y="2743200"/>
            <a:ext cx="5577840" cy="3657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300" b="1" dirty="0">
                <a:solidFill>
                  <a:srgbClr val="C00000"/>
                </a:solidFill>
                <a:latin typeface="Calibri"/>
              </a:rPr>
              <a:t xml:space="preserve">TOP FEATURE IMPORTANCE</a:t>
            </a:r>
          </a:p>
        </p:txBody>
      </p:sp>
      <p:sp xmlns:a="http://schemas.openxmlformats.org/drawingml/2006/main" xmlns:p="http://schemas.openxmlformats.org/presentationml/2006/main">
        <p:nvSpPr>
          <p:cNvPr id="231" name="fi-lbl"/>
          <p:cNvSpPr txBox="1">
            <a:spLocks noGrp="1"/>
          </p:cNvSpPr>
          <p:nvPr/>
        </p:nvSpPr>
        <p:spPr>
          <a:xfrm>
            <a:off x="6217920" y="3154680"/>
            <a:ext cx="2103120" cy="2743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231F20"/>
                </a:solidFill>
                <a:latin typeface="Calibri"/>
              </a:rPr>
              <a:t xml:space="preserve">amp_mean</a:t>
            </a:r>
          </a:p>
        </p:txBody>
      </p:sp>
      <p:sp xmlns:a="http://schemas.openxmlformats.org/drawingml/2006/main" xmlns:p="http://schemas.openxmlformats.org/presentationml/2006/main">
        <p:nvSpPr>
          <p:cNvPr id="232" name="fi-bar-bg"/>
          <p:cNvSpPr>
            <a:spLocks noGrp="1"/>
          </p:cNvSpPr>
          <p:nvPr/>
        </p:nvSpPr>
        <p:spPr>
          <a:xfrm>
            <a:off x="8321040" y="3200400"/>
            <a:ext cx="3200400" cy="20116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33" name="fi-bar"/>
          <p:cNvSpPr>
            <a:spLocks noGrp="1"/>
          </p:cNvSpPr>
          <p:nvPr/>
        </p:nvSpPr>
        <p:spPr>
          <a:xfrm>
            <a:off x="8321040" y="3200400"/>
            <a:ext cx="2560320" cy="2011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40" name="fi-pct"/>
          <p:cNvSpPr txBox="1">
            <a:spLocks noGrp="1"/>
          </p:cNvSpPr>
          <p:nvPr/>
        </p:nvSpPr>
        <p:spPr>
          <a:xfrm>
            <a:off x="11567160" y="3154680"/>
            <a:ext cx="548640" cy="2743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595959"/>
                </a:solidFill>
                <a:latin typeface="Calibri"/>
              </a:rPr>
              <a:t xml:space="preserve">21.4%</a:t>
            </a:r>
          </a:p>
        </p:txBody>
      </p:sp>
      <p:sp xmlns:a="http://schemas.openxmlformats.org/drawingml/2006/main" xmlns:p="http://schemas.openxmlformats.org/presentationml/2006/main">
        <p:nvSpPr>
          <p:cNvPr id="234" name="fi-lbl"/>
          <p:cNvSpPr txBox="1">
            <a:spLocks noGrp="1"/>
          </p:cNvSpPr>
          <p:nvPr/>
        </p:nvSpPr>
        <p:spPr>
          <a:xfrm>
            <a:off x="6217920" y="3538728"/>
            <a:ext cx="2103120" cy="2743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231F20"/>
                </a:solidFill>
                <a:latin typeface="Calibri"/>
              </a:rPr>
              <a:t xml:space="preserve">gate_power</a:t>
            </a:r>
          </a:p>
        </p:txBody>
      </p:sp>
      <p:sp xmlns:a="http://schemas.openxmlformats.org/drawingml/2006/main" xmlns:p="http://schemas.openxmlformats.org/presentationml/2006/main">
        <p:nvSpPr>
          <p:cNvPr id="235" name="fi-bar-bg"/>
          <p:cNvSpPr>
            <a:spLocks noGrp="1"/>
          </p:cNvSpPr>
          <p:nvPr/>
        </p:nvSpPr>
        <p:spPr>
          <a:xfrm>
            <a:off x="8321040" y="3584448"/>
            <a:ext cx="3200400" cy="20116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36" name="fi-bar"/>
          <p:cNvSpPr>
            <a:spLocks noGrp="1"/>
          </p:cNvSpPr>
          <p:nvPr/>
        </p:nvSpPr>
        <p:spPr>
          <a:xfrm>
            <a:off x="8321040" y="3584448"/>
            <a:ext cx="2144268" cy="2011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43" name="fi-pct"/>
          <p:cNvSpPr txBox="1">
            <a:spLocks noGrp="1"/>
          </p:cNvSpPr>
          <p:nvPr/>
        </p:nvSpPr>
        <p:spPr>
          <a:xfrm>
            <a:off x="11567160" y="3538728"/>
            <a:ext cx="548640" cy="2743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595959"/>
                </a:solidFill>
                <a:latin typeface="Calibri"/>
              </a:rPr>
              <a:t xml:space="preserve">17.6%</a:t>
            </a:r>
          </a:p>
        </p:txBody>
      </p:sp>
      <p:sp xmlns:a="http://schemas.openxmlformats.org/drawingml/2006/main" xmlns:p="http://schemas.openxmlformats.org/presentationml/2006/main">
        <p:nvSpPr>
          <p:cNvPr id="237" name="fi-lbl"/>
          <p:cNvSpPr txBox="1">
            <a:spLocks noGrp="1"/>
          </p:cNvSpPr>
          <p:nvPr/>
        </p:nvSpPr>
        <p:spPr>
          <a:xfrm>
            <a:off x="6217920" y="3922776"/>
            <a:ext cx="2103120" cy="2743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231F20"/>
                </a:solidFill>
                <a:latin typeface="Calibri"/>
              </a:rPr>
              <a:t xml:space="preserve">amp_energy</a:t>
            </a:r>
          </a:p>
        </p:txBody>
      </p:sp>
      <p:sp xmlns:a="http://schemas.openxmlformats.org/drawingml/2006/main" xmlns:p="http://schemas.openxmlformats.org/presentationml/2006/main">
        <p:nvSpPr>
          <p:cNvPr id="238" name="fi-bar-bg"/>
          <p:cNvSpPr>
            <a:spLocks noGrp="1"/>
          </p:cNvSpPr>
          <p:nvPr/>
        </p:nvSpPr>
        <p:spPr>
          <a:xfrm>
            <a:off x="8321040" y="3968496"/>
            <a:ext cx="3200400" cy="20116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39" name="fi-bar"/>
          <p:cNvSpPr>
            <a:spLocks noGrp="1"/>
          </p:cNvSpPr>
          <p:nvPr/>
        </p:nvSpPr>
        <p:spPr>
          <a:xfrm>
            <a:off x="8321040" y="3968496"/>
            <a:ext cx="2048256" cy="2011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46" name="fi-pct"/>
          <p:cNvSpPr txBox="1">
            <a:spLocks noGrp="1"/>
          </p:cNvSpPr>
          <p:nvPr/>
        </p:nvSpPr>
        <p:spPr>
          <a:xfrm>
            <a:off x="11567160" y="3922776"/>
            <a:ext cx="548640" cy="2743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595959"/>
                </a:solidFill>
                <a:latin typeface="Calibri"/>
              </a:rPr>
              <a:t xml:space="preserve">16.9%</a:t>
            </a:r>
          </a:p>
        </p:txBody>
      </p:sp>
      <p:sp xmlns:a="http://schemas.openxmlformats.org/drawingml/2006/main" xmlns:p="http://schemas.openxmlformats.org/presentationml/2006/main">
        <p:nvSpPr>
          <p:cNvPr id="240" name="fi-lbl"/>
          <p:cNvSpPr txBox="1">
            <a:spLocks noGrp="1"/>
          </p:cNvSpPr>
          <p:nvPr/>
        </p:nvSpPr>
        <p:spPr>
          <a:xfrm>
            <a:off x="6217920" y="4306824"/>
            <a:ext cx="2103120" cy="2743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231F20"/>
                </a:solidFill>
                <a:latin typeface="Calibri"/>
              </a:rPr>
              <a:t xml:space="preserve">amp_std</a:t>
            </a:r>
          </a:p>
        </p:txBody>
      </p:sp>
      <p:sp xmlns:a="http://schemas.openxmlformats.org/drawingml/2006/main" xmlns:p="http://schemas.openxmlformats.org/presentationml/2006/main">
        <p:nvSpPr>
          <p:cNvPr id="241" name="fi-bar-bg"/>
          <p:cNvSpPr>
            <a:spLocks noGrp="1"/>
          </p:cNvSpPr>
          <p:nvPr/>
        </p:nvSpPr>
        <p:spPr>
          <a:xfrm>
            <a:off x="8321040" y="4352544"/>
            <a:ext cx="3200400" cy="20116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42" name="fi-bar"/>
          <p:cNvSpPr>
            <a:spLocks noGrp="1"/>
          </p:cNvSpPr>
          <p:nvPr/>
        </p:nvSpPr>
        <p:spPr>
          <a:xfrm>
            <a:off x="8321040" y="4352544"/>
            <a:ext cx="1472184" cy="2011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49" name="fi-pct"/>
          <p:cNvSpPr txBox="1">
            <a:spLocks noGrp="1"/>
          </p:cNvSpPr>
          <p:nvPr/>
        </p:nvSpPr>
        <p:spPr>
          <a:xfrm>
            <a:off x="11567160" y="4306824"/>
            <a:ext cx="548640" cy="2743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595959"/>
                </a:solidFill>
                <a:latin typeface="Calibri"/>
              </a:rPr>
              <a:t xml:space="preserve">12.1%</a:t>
            </a:r>
          </a:p>
        </p:txBody>
      </p:sp>
      <p:sp xmlns:a="http://schemas.openxmlformats.org/drawingml/2006/main" xmlns:p="http://schemas.openxmlformats.org/presentationml/2006/main">
        <p:nvSpPr>
          <p:cNvPr id="280" name="bp-hd"/>
          <p:cNvSpPr txBox="1">
            <a:spLocks noGrp="1"/>
          </p:cNvSpPr>
          <p:nvPr/>
        </p:nvSpPr>
        <p:spPr>
          <a:xfrm>
            <a:off x="6217920" y="4754880"/>
            <a:ext cx="5577840" cy="347472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C00000"/>
                </a:solidFill>
                <a:latin typeface="Calibri"/>
              </a:rPr>
              <a:t xml:space="preserve">BEST MODEL PARAMS (GridSearchCV)</a:t>
            </a:r>
          </a:p>
        </p:txBody>
      </p:sp>
      <p:sp xmlns:a="http://schemas.openxmlformats.org/drawingml/2006/main" xmlns:p="http://schemas.openxmlformats.org/presentationml/2006/main">
        <p:nvSpPr>
          <p:cNvPr id="281" name="bp-body"/>
          <p:cNvSpPr txBox="1">
            <a:spLocks noGrp="1"/>
          </p:cNvSpPr>
          <p:nvPr/>
        </p:nvSpPr>
        <p:spPr>
          <a:xfrm>
            <a:off x="6217920" y="5120640"/>
            <a:ext cx="5577840" cy="91440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231F20"/>
                </a:solidFill>
                <a:latin typeface="Calibri"/>
              </a:rPr>
              <a:t xml:space="preserve">n_estimators=100  |  max_features=sqrt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231F20"/>
                </a:solidFill>
                <a:latin typeface="Calibri"/>
              </a:rPr>
              <a:t xml:space="preserve">
max_depth=None  |  min_samples_split=2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595959"/>
                </a:solidFill>
                <a:latin typeface="Calibri"/>
              </a:rPr>
              <a:t xml:space="preserve">
Classification: Drone vs Bird (Binary)</a:t>
            </a:r>
          </a:p>
        </p:txBody>
      </p:sp>
      <p:sp xmlns:a="http://schemas.openxmlformats.org/drawingml/2006/main" xmlns:p="http://schemas.openxmlformats.org/presentationml/2006/main">
        <p:nvSpPr>
          <p:cNvPr id="400" name="bot-bar"/>
          <p:cNvSpPr>
            <a:spLocks noGrp="1"/>
          </p:cNvSpPr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401" name="bot-txt"/>
          <p:cNvSpPr txBox="1">
            <a:spLocks noGrp="1"/>
          </p:cNvSpPr>
          <p:nvPr/>
        </p:nvSpPr>
        <p:spPr>
          <a:xfrm>
            <a:off x="365760" y="6665976"/>
            <a:ext cx="11430000" cy="20116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Calibri"/>
              </a:rPr>
              <a:t xml:space="preserve">Mistral Solutions  |  mmWave Radar Internship  |  Balasubramanian C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200" name="top-bar"/>
          <p:cNvSpPr>
            <a:spLocks noGrp="1"/>
          </p:cNvSpPr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01" name="title"/>
          <p:cNvSpPr txBox="1">
            <a:spLocks noGrp="1"/>
          </p:cNvSpPr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2200" b="1" dirty="0">
                <a:solidFill>
                  <a:srgbClr val="231F20"/>
                </a:solidFill>
                <a:latin typeface="Calibri"/>
              </a:rPr>
              <a:t xml:space="preserve">Phase 2 — Deep Learning: MicroDopplerCNN (SE-ResNet)</a:t>
            </a:r>
          </a:p>
        </p:txBody>
      </p:sp>
      <p:sp xmlns:a="http://schemas.openxmlformats.org/drawingml/2006/main" xmlns:p="http://schemas.openxmlformats.org/presentationml/2006/main">
        <p:nvSpPr>
          <p:cNvPr id="202" name="div"/>
          <p:cNvSpPr>
            <a:spLocks noGrp="1"/>
          </p:cNvSpPr>
          <p:nvPr/>
        </p:nvSpPr>
        <p:spPr>
          <a:xfrm>
            <a:off x="365760" y="841248"/>
            <a:ext cx="1143000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03" name="ds-hd"/>
          <p:cNvSpPr txBox="1">
            <a:spLocks noGrp="1"/>
          </p:cNvSpPr>
          <p:nvPr/>
        </p:nvSpPr>
        <p:spPr>
          <a:xfrm>
            <a:off x="365760" y="960120"/>
            <a:ext cx="5577840" cy="347472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C00000"/>
                </a:solidFill>
                <a:latin typeface="Calibri"/>
              </a:rPr>
              <a:t xml:space="preserve">DATASET — IEEE 60 GHz FMCW (15.21 GB)</a:t>
            </a:r>
          </a:p>
        </p:txBody>
      </p:sp>
      <p:sp xmlns:a="http://schemas.openxmlformats.org/drawingml/2006/main" xmlns:p="http://schemas.openxmlformats.org/presentationml/2006/main">
        <p:nvSpPr>
          <p:cNvPr id="204" name="ds-body"/>
          <p:cNvSpPr txBox="1">
            <a:spLocks noGrp="1"/>
          </p:cNvSpPr>
          <p:nvPr/>
        </p:nvSpPr>
        <p:spPr>
          <a:xfrm>
            <a:off x="365760" y="1307592"/>
            <a:ext cx="5577840" cy="91440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231F20"/>
                </a:solidFill>
                <a:latin typeface="Calibri"/>
              </a:rPr>
              <a:t xml:space="preserve">• 101 samples: 63 drone (DJI Mavic/P3P), 38 bird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231F20"/>
                </a:solidFill>
                <a:latin typeface="Calibri"/>
              </a:rPr>
              <a:t xml:space="preserve">
• Range-Doppler maps: N_frames × 1000 × 128 complex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231F20"/>
                </a:solidFill>
                <a:latin typeface="Calibri"/>
              </a:rPr>
              <a:t xml:space="preserve">
• Custom preprocessing → STFT spectrogram 64×64</a:t>
            </a:r>
          </a:p>
        </p:txBody>
      </p:sp>
      <p:sp xmlns:a="http://schemas.openxmlformats.org/drawingml/2006/main" xmlns:p="http://schemas.openxmlformats.org/presentationml/2006/main">
        <p:nvSpPr>
          <p:cNvPr id="205" name="arch-hd"/>
          <p:cNvSpPr txBox="1">
            <a:spLocks noGrp="1"/>
          </p:cNvSpPr>
          <p:nvPr/>
        </p:nvSpPr>
        <p:spPr>
          <a:xfrm>
            <a:off x="365760" y="2331720"/>
            <a:ext cx="5577840" cy="347472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C00000"/>
                </a:solidFill>
                <a:latin typeface="Calibri"/>
              </a:rPr>
              <a:t xml:space="preserve">MODEL ARCHITECTURE</a:t>
            </a:r>
          </a:p>
        </p:txBody>
      </p:sp>
      <p:sp xmlns:a="http://schemas.openxmlformats.org/drawingml/2006/main" xmlns:p="http://schemas.openxmlformats.org/presentationml/2006/main">
        <p:nvSpPr>
          <p:cNvPr id="210" name="arch-tag-bg"/>
          <p:cNvSpPr>
            <a:spLocks noGrp="1"/>
          </p:cNvSpPr>
          <p:nvPr/>
        </p:nvSpPr>
        <p:spPr>
          <a:xfrm>
            <a:off x="365760" y="2679192"/>
            <a:ext cx="1005840" cy="3108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11" name="arch-tag"/>
          <p:cNvSpPr txBox="1">
            <a:spLocks noGrp="1"/>
          </p:cNvSpPr>
          <p:nvPr/>
        </p:nvSpPr>
        <p:spPr>
          <a:xfrm>
            <a:off x="384048" y="2697480"/>
            <a:ext cx="969264" cy="2743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ctr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 xml:space="preserve">Stem</a:t>
            </a:r>
          </a:p>
        </p:txBody>
      </p:sp>
      <p:sp xmlns:a="http://schemas.openxmlformats.org/drawingml/2006/main" xmlns:p="http://schemas.openxmlformats.org/presentationml/2006/main">
        <p:nvSpPr>
          <p:cNvPr id="220" name="arch-desc"/>
          <p:cNvSpPr txBox="1">
            <a:spLocks noGrp="1"/>
          </p:cNvSpPr>
          <p:nvPr/>
        </p:nvSpPr>
        <p:spPr>
          <a:xfrm>
            <a:off x="1463040" y="2697480"/>
            <a:ext cx="4434840" cy="310896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Conv2d(1→32, 7×7) + BN + ReLU + MaxPool → 32×32</a:t>
            </a:r>
          </a:p>
        </p:txBody>
      </p:sp>
      <p:sp xmlns:a="http://schemas.openxmlformats.org/drawingml/2006/main" xmlns:p="http://schemas.openxmlformats.org/presentationml/2006/main">
        <p:nvSpPr>
          <p:cNvPr id="212" name="arch-tag-bg"/>
          <p:cNvSpPr>
            <a:spLocks noGrp="1"/>
          </p:cNvSpPr>
          <p:nvPr/>
        </p:nvSpPr>
        <p:spPr>
          <a:xfrm>
            <a:off x="365760" y="3063240"/>
            <a:ext cx="1005840" cy="310896"/>
          </a:xfrm>
          <a:prstGeom prst="rect">
            <a:avLst/>
          </a:prstGeom>
          <a:solidFill>
            <a:srgbClr val="1F6B75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13" name="arch-tag"/>
          <p:cNvSpPr txBox="1">
            <a:spLocks noGrp="1"/>
          </p:cNvSpPr>
          <p:nvPr/>
        </p:nvSpPr>
        <p:spPr>
          <a:xfrm>
            <a:off x="384048" y="3081528"/>
            <a:ext cx="969264" cy="2743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ctr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 xml:space="preserve">Stage 1</a:t>
            </a:r>
          </a:p>
        </p:txBody>
      </p:sp>
      <p:sp xmlns:a="http://schemas.openxmlformats.org/drawingml/2006/main" xmlns:p="http://schemas.openxmlformats.org/presentationml/2006/main">
        <p:nvSpPr>
          <p:cNvPr id="221" name="arch-desc"/>
          <p:cNvSpPr txBox="1">
            <a:spLocks noGrp="1"/>
          </p:cNvSpPr>
          <p:nvPr/>
        </p:nvSpPr>
        <p:spPr>
          <a:xfrm>
            <a:off x="1463040" y="3081528"/>
            <a:ext cx="4434840" cy="310896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ResBlock(32) + Conv(stride=2) → 16×16</a:t>
            </a:r>
          </a:p>
        </p:txBody>
      </p:sp>
      <p:sp xmlns:a="http://schemas.openxmlformats.org/drawingml/2006/main" xmlns:p="http://schemas.openxmlformats.org/presentationml/2006/main">
        <p:nvSpPr>
          <p:cNvPr id="214" name="arch-tag-bg"/>
          <p:cNvSpPr>
            <a:spLocks noGrp="1"/>
          </p:cNvSpPr>
          <p:nvPr/>
        </p:nvSpPr>
        <p:spPr>
          <a:xfrm>
            <a:off x="365760" y="3447288"/>
            <a:ext cx="1005840" cy="3108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15" name="arch-tag"/>
          <p:cNvSpPr txBox="1">
            <a:spLocks noGrp="1"/>
          </p:cNvSpPr>
          <p:nvPr/>
        </p:nvSpPr>
        <p:spPr>
          <a:xfrm>
            <a:off x="384048" y="3465576"/>
            <a:ext cx="969264" cy="2743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ctr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 xml:space="preserve">Stage 2</a:t>
            </a:r>
          </a:p>
        </p:txBody>
      </p:sp>
      <p:sp xmlns:a="http://schemas.openxmlformats.org/drawingml/2006/main" xmlns:p="http://schemas.openxmlformats.org/presentationml/2006/main">
        <p:nvSpPr>
          <p:cNvPr id="222" name="arch-desc"/>
          <p:cNvSpPr txBox="1">
            <a:spLocks noGrp="1"/>
          </p:cNvSpPr>
          <p:nvPr/>
        </p:nvSpPr>
        <p:spPr>
          <a:xfrm>
            <a:off x="1463040" y="3465576"/>
            <a:ext cx="4434840" cy="310896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ResBlock(64)×2 + Conv(stride=2) → 8×8</a:t>
            </a:r>
          </a:p>
        </p:txBody>
      </p:sp>
      <p:sp xmlns:a="http://schemas.openxmlformats.org/drawingml/2006/main" xmlns:p="http://schemas.openxmlformats.org/presentationml/2006/main">
        <p:nvSpPr>
          <p:cNvPr id="216" name="arch-tag-bg"/>
          <p:cNvSpPr>
            <a:spLocks noGrp="1"/>
          </p:cNvSpPr>
          <p:nvPr/>
        </p:nvSpPr>
        <p:spPr>
          <a:xfrm>
            <a:off x="365760" y="3831336"/>
            <a:ext cx="1005840" cy="310896"/>
          </a:xfrm>
          <a:prstGeom prst="rect">
            <a:avLst/>
          </a:prstGeom>
          <a:solidFill>
            <a:srgbClr val="1F6B75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17" name="arch-tag"/>
          <p:cNvSpPr txBox="1">
            <a:spLocks noGrp="1"/>
          </p:cNvSpPr>
          <p:nvPr/>
        </p:nvSpPr>
        <p:spPr>
          <a:xfrm>
            <a:off x="384048" y="3849624"/>
            <a:ext cx="969264" cy="2743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ctr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 xml:space="preserve">Stage 3</a:t>
            </a:r>
          </a:p>
        </p:txBody>
      </p:sp>
      <p:sp xmlns:a="http://schemas.openxmlformats.org/drawingml/2006/main" xmlns:p="http://schemas.openxmlformats.org/presentationml/2006/main">
        <p:nvSpPr>
          <p:cNvPr id="223" name="arch-desc"/>
          <p:cNvSpPr txBox="1">
            <a:spLocks noGrp="1"/>
          </p:cNvSpPr>
          <p:nvPr/>
        </p:nvSpPr>
        <p:spPr>
          <a:xfrm>
            <a:off x="1463040" y="3849624"/>
            <a:ext cx="4434840" cy="310896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ResBlock(128) + Conv(stride=2) → 4×4  [+ SE Attention]</a:t>
            </a:r>
          </a:p>
        </p:txBody>
      </p:sp>
      <p:sp xmlns:a="http://schemas.openxmlformats.org/drawingml/2006/main" xmlns:p="http://schemas.openxmlformats.org/presentationml/2006/main">
        <p:nvSpPr>
          <p:cNvPr id="218" name="arch-tag-bg"/>
          <p:cNvSpPr>
            <a:spLocks noGrp="1"/>
          </p:cNvSpPr>
          <p:nvPr/>
        </p:nvSpPr>
        <p:spPr>
          <a:xfrm>
            <a:off x="365760" y="4215384"/>
            <a:ext cx="1005840" cy="31089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19" name="arch-tag"/>
          <p:cNvSpPr txBox="1">
            <a:spLocks noGrp="1"/>
          </p:cNvSpPr>
          <p:nvPr/>
        </p:nvSpPr>
        <p:spPr>
          <a:xfrm>
            <a:off x="384048" y="4233672"/>
            <a:ext cx="969264" cy="2743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ctr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 xml:space="preserve">Head</a:t>
            </a:r>
          </a:p>
        </p:txBody>
      </p:sp>
      <p:sp xmlns:a="http://schemas.openxmlformats.org/drawingml/2006/main" xmlns:p="http://schemas.openxmlformats.org/presentationml/2006/main">
        <p:nvSpPr>
          <p:cNvPr id="224" name="arch-desc"/>
          <p:cNvSpPr txBox="1">
            <a:spLocks noGrp="1"/>
          </p:cNvSpPr>
          <p:nvPr/>
        </p:nvSpPr>
        <p:spPr>
          <a:xfrm>
            <a:off x="1463040" y="4233672"/>
            <a:ext cx="4434840" cy="310896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AvgPool + Dropout(0.3) + Linear(256→64) + Linear(64→2)</a:t>
            </a:r>
          </a:p>
        </p:txBody>
      </p:sp>
      <p:sp xmlns:a="http://schemas.openxmlformats.org/drawingml/2006/main" xmlns:p="http://schemas.openxmlformats.org/presentationml/2006/main">
        <p:nvSpPr>
          <p:cNvPr id="240" name="res-hd"/>
          <p:cNvSpPr txBox="1">
            <a:spLocks noGrp="1"/>
          </p:cNvSpPr>
          <p:nvPr/>
        </p:nvSpPr>
        <p:spPr>
          <a:xfrm>
            <a:off x="6400800" y="960120"/>
            <a:ext cx="5394960" cy="347472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C00000"/>
                </a:solidFill>
                <a:latin typeface="Calibri"/>
              </a:rPr>
              <a:t xml:space="preserve">RESULTS — 3-FOLD STRATIFIED CV</a:t>
            </a:r>
          </a:p>
        </p:txBody>
      </p:sp>
      <p:sp xmlns:a="http://schemas.openxmlformats.org/drawingml/2006/main" xmlns:p="http://schemas.openxmlformats.org/presentationml/2006/main">
        <p:nvSpPr>
          <p:cNvPr id="250" name="fold-bg"/>
          <p:cNvSpPr>
            <a:spLocks noGrp="1"/>
          </p:cNvSpPr>
          <p:nvPr/>
        </p:nvSpPr>
        <p:spPr>
          <a:xfrm>
            <a:off x="6400800" y="1353312"/>
            <a:ext cx="5394960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51" name="fold-name"/>
          <p:cNvSpPr txBox="1">
            <a:spLocks noGrp="1"/>
          </p:cNvSpPr>
          <p:nvPr/>
        </p:nvSpPr>
        <p:spPr>
          <a:xfrm>
            <a:off x="6492240" y="1426464"/>
            <a:ext cx="1097280" cy="5029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C00000"/>
                </a:solidFill>
                <a:latin typeface="Calibri"/>
              </a:rPr>
              <a:t xml:space="preserve">Fold 1</a:t>
            </a:r>
          </a:p>
        </p:txBody>
      </p:sp>
      <p:sp xmlns:a="http://schemas.openxmlformats.org/drawingml/2006/main" xmlns:p="http://schemas.openxmlformats.org/presentationml/2006/main">
        <p:nvSpPr>
          <p:cNvPr id="252" name="fold-acc"/>
          <p:cNvSpPr txBox="1">
            <a:spLocks noGrp="1"/>
          </p:cNvSpPr>
          <p:nvPr/>
        </p:nvSpPr>
        <p:spPr>
          <a:xfrm>
            <a:off x="7680960" y="1426464"/>
            <a:ext cx="1554480" cy="5029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231F20"/>
                </a:solidFill>
                <a:latin typeface="Calibri"/>
              </a:rPr>
              <a:t xml:space="preserve">Acc 85.0%</a:t>
            </a:r>
          </a:p>
        </p:txBody>
      </p:sp>
      <p:sp xmlns:a="http://schemas.openxmlformats.org/drawingml/2006/main" xmlns:p="http://schemas.openxmlformats.org/presentationml/2006/main">
        <p:nvSpPr>
          <p:cNvPr id="253" name="fold-f1"/>
          <p:cNvSpPr txBox="1">
            <a:spLocks noGrp="1"/>
          </p:cNvSpPr>
          <p:nvPr/>
        </p:nvSpPr>
        <p:spPr>
          <a:xfrm>
            <a:off x="9235440" y="1426464"/>
            <a:ext cx="1371600" cy="5029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231F20"/>
                </a:solidFill>
                <a:latin typeface="Calibri"/>
              </a:rPr>
              <a:t xml:space="preserve">F1 0.880</a:t>
            </a:r>
          </a:p>
        </p:txBody>
      </p:sp>
      <p:sp xmlns:a="http://schemas.openxmlformats.org/drawingml/2006/main" xmlns:p="http://schemas.openxmlformats.org/presentationml/2006/main">
        <p:nvSpPr>
          <p:cNvPr id="254" name="fold-auc"/>
          <p:cNvSpPr txBox="1">
            <a:spLocks noGrp="1"/>
          </p:cNvSpPr>
          <p:nvPr/>
        </p:nvSpPr>
        <p:spPr>
          <a:xfrm>
            <a:off x="10652760" y="1426464"/>
            <a:ext cx="1097280" cy="5029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231F20"/>
                </a:solidFill>
                <a:latin typeface="Calibri"/>
              </a:rPr>
              <a:t xml:space="preserve">AUC 0.760</a:t>
            </a:r>
          </a:p>
        </p:txBody>
      </p:sp>
      <p:sp xmlns:a="http://schemas.openxmlformats.org/drawingml/2006/main" xmlns:p="http://schemas.openxmlformats.org/presentationml/2006/main">
        <p:nvSpPr>
          <p:cNvPr id="254" name="fold-bg"/>
          <p:cNvSpPr>
            <a:spLocks noGrp="1"/>
          </p:cNvSpPr>
          <p:nvPr/>
        </p:nvSpPr>
        <p:spPr>
          <a:xfrm>
            <a:off x="6400800" y="2066543"/>
            <a:ext cx="5394960" cy="658368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55" name="fold-name"/>
          <p:cNvSpPr txBox="1">
            <a:spLocks noGrp="1"/>
          </p:cNvSpPr>
          <p:nvPr/>
        </p:nvSpPr>
        <p:spPr>
          <a:xfrm>
            <a:off x="6492240" y="2139696"/>
            <a:ext cx="1097280" cy="5029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 xml:space="preserve">Fold 2</a:t>
            </a:r>
          </a:p>
        </p:txBody>
      </p:sp>
      <p:sp xmlns:a="http://schemas.openxmlformats.org/drawingml/2006/main" xmlns:p="http://schemas.openxmlformats.org/presentationml/2006/main">
        <p:nvSpPr>
          <p:cNvPr id="256" name="fold-acc"/>
          <p:cNvSpPr txBox="1">
            <a:spLocks noGrp="1"/>
          </p:cNvSpPr>
          <p:nvPr/>
        </p:nvSpPr>
        <p:spPr>
          <a:xfrm>
            <a:off x="7680960" y="2139696"/>
            <a:ext cx="1554480" cy="5029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Calibri"/>
              </a:rPr>
              <a:t xml:space="preserve">Acc 91.0% ★</a:t>
            </a:r>
          </a:p>
        </p:txBody>
      </p:sp>
      <p:sp xmlns:a="http://schemas.openxmlformats.org/drawingml/2006/main" xmlns:p="http://schemas.openxmlformats.org/presentationml/2006/main">
        <p:nvSpPr>
          <p:cNvPr id="257" name="fold-f1"/>
          <p:cNvSpPr txBox="1">
            <a:spLocks noGrp="1"/>
          </p:cNvSpPr>
          <p:nvPr/>
        </p:nvSpPr>
        <p:spPr>
          <a:xfrm>
            <a:off x="9235440" y="2139696"/>
            <a:ext cx="1371600" cy="5029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Calibri"/>
              </a:rPr>
              <a:t xml:space="preserve">F1 0.930</a:t>
            </a:r>
          </a:p>
        </p:txBody>
      </p:sp>
      <p:sp xmlns:a="http://schemas.openxmlformats.org/drawingml/2006/main" xmlns:p="http://schemas.openxmlformats.org/presentationml/2006/main">
        <p:nvSpPr>
          <p:cNvPr id="258" name="fold-auc"/>
          <p:cNvSpPr txBox="1">
            <a:spLocks noGrp="1"/>
          </p:cNvSpPr>
          <p:nvPr/>
        </p:nvSpPr>
        <p:spPr>
          <a:xfrm>
            <a:off x="10652760" y="2139696"/>
            <a:ext cx="1097280" cy="5029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Calibri"/>
              </a:rPr>
              <a:t xml:space="preserve">AUC 0.974</a:t>
            </a:r>
          </a:p>
        </p:txBody>
      </p:sp>
      <p:sp xmlns:a="http://schemas.openxmlformats.org/drawingml/2006/main" xmlns:p="http://schemas.openxmlformats.org/presentationml/2006/main">
        <p:nvSpPr>
          <p:cNvPr id="258" name="fold-bg"/>
          <p:cNvSpPr>
            <a:spLocks noGrp="1"/>
          </p:cNvSpPr>
          <p:nvPr/>
        </p:nvSpPr>
        <p:spPr>
          <a:xfrm>
            <a:off x="6400800" y="2779776"/>
            <a:ext cx="5394960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59" name="fold-name"/>
          <p:cNvSpPr txBox="1">
            <a:spLocks noGrp="1"/>
          </p:cNvSpPr>
          <p:nvPr/>
        </p:nvSpPr>
        <p:spPr>
          <a:xfrm>
            <a:off x="6492240" y="2852928"/>
            <a:ext cx="1097280" cy="5029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C00000"/>
                </a:solidFill>
                <a:latin typeface="Calibri"/>
              </a:rPr>
              <a:t xml:space="preserve">Fold 3</a:t>
            </a:r>
          </a:p>
        </p:txBody>
      </p:sp>
      <p:sp xmlns:a="http://schemas.openxmlformats.org/drawingml/2006/main" xmlns:p="http://schemas.openxmlformats.org/presentationml/2006/main">
        <p:nvSpPr>
          <p:cNvPr id="260" name="fold-acc"/>
          <p:cNvSpPr txBox="1">
            <a:spLocks noGrp="1"/>
          </p:cNvSpPr>
          <p:nvPr/>
        </p:nvSpPr>
        <p:spPr>
          <a:xfrm>
            <a:off x="7680960" y="2852928"/>
            <a:ext cx="1554480" cy="5029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231F20"/>
                </a:solidFill>
                <a:latin typeface="Calibri"/>
              </a:rPr>
              <a:t xml:space="preserve">Acc 86.0%</a:t>
            </a:r>
          </a:p>
        </p:txBody>
      </p:sp>
      <p:sp xmlns:a="http://schemas.openxmlformats.org/drawingml/2006/main" xmlns:p="http://schemas.openxmlformats.org/presentationml/2006/main">
        <p:nvSpPr>
          <p:cNvPr id="261" name="fold-f1"/>
          <p:cNvSpPr txBox="1">
            <a:spLocks noGrp="1"/>
          </p:cNvSpPr>
          <p:nvPr/>
        </p:nvSpPr>
        <p:spPr>
          <a:xfrm>
            <a:off x="9235440" y="2852928"/>
            <a:ext cx="1371600" cy="5029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231F20"/>
                </a:solidFill>
                <a:latin typeface="Calibri"/>
              </a:rPr>
              <a:t xml:space="preserve">F1 0.900</a:t>
            </a:r>
          </a:p>
        </p:txBody>
      </p:sp>
      <p:sp xmlns:a="http://schemas.openxmlformats.org/drawingml/2006/main" xmlns:p="http://schemas.openxmlformats.org/presentationml/2006/main">
        <p:nvSpPr>
          <p:cNvPr id="262" name="fold-auc"/>
          <p:cNvSpPr txBox="1">
            <a:spLocks noGrp="1"/>
          </p:cNvSpPr>
          <p:nvPr/>
        </p:nvSpPr>
        <p:spPr>
          <a:xfrm>
            <a:off x="10652760" y="2852928"/>
            <a:ext cx="1097280" cy="5029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200" dirty="0">
                <a:solidFill>
                  <a:srgbClr val="231F20"/>
                </a:solidFill>
                <a:latin typeface="Calibri"/>
              </a:rPr>
              <a:t xml:space="preserve">AUC 0.920</a:t>
            </a:r>
          </a:p>
        </p:txBody>
      </p:sp>
      <p:sp xmlns:a="http://schemas.openxmlformats.org/drawingml/2006/main" xmlns:p="http://schemas.openxmlformats.org/presentationml/2006/main">
        <p:nvSpPr>
          <p:cNvPr id="290" name="mean-bg"/>
          <p:cNvSpPr>
            <a:spLocks noGrp="1"/>
          </p:cNvSpPr>
          <p:nvPr/>
        </p:nvSpPr>
        <p:spPr>
          <a:xfrm>
            <a:off x="6400800" y="3493008"/>
            <a:ext cx="5394960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91" name="mean-txt"/>
          <p:cNvSpPr txBox="1">
            <a:spLocks noGrp="1"/>
          </p:cNvSpPr>
          <p:nvPr/>
        </p:nvSpPr>
        <p:spPr>
          <a:xfrm>
            <a:off x="6492240" y="3566160"/>
            <a:ext cx="5212080" cy="45720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 xml:space="preserve">Mean:  Acc 87.3%   F1 0.903   AUC 0.885</a:t>
            </a:r>
          </a:p>
        </p:txBody>
      </p:sp>
      <p:sp xmlns:a="http://schemas.openxmlformats.org/drawingml/2006/main" xmlns:p="http://schemas.openxmlformats.org/presentationml/2006/main">
        <p:nvSpPr>
          <p:cNvPr id="300" name="train-hd"/>
          <p:cNvSpPr txBox="1">
            <a:spLocks noGrp="1"/>
          </p:cNvSpPr>
          <p:nvPr/>
        </p:nvSpPr>
        <p:spPr>
          <a:xfrm>
            <a:off x="6400800" y="4023360"/>
            <a:ext cx="5394960" cy="347472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C00000"/>
                </a:solidFill>
                <a:latin typeface="Calibri"/>
              </a:rPr>
              <a:t xml:space="preserve">TRAINING SETUP</a:t>
            </a:r>
          </a:p>
        </p:txBody>
      </p:sp>
      <p:sp xmlns:a="http://schemas.openxmlformats.org/drawingml/2006/main" xmlns:p="http://schemas.openxmlformats.org/presentationml/2006/main">
        <p:nvSpPr>
          <p:cNvPr id="301" name="train-body"/>
          <p:cNvSpPr txBox="1">
            <a:spLocks noGrp="1"/>
          </p:cNvSpPr>
          <p:nvPr/>
        </p:nvSpPr>
        <p:spPr>
          <a:xfrm>
            <a:off x="6400800" y="4370832"/>
            <a:ext cx="5394960" cy="182880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231F20"/>
                </a:solidFill>
                <a:latin typeface="Calibri"/>
              </a:rPr>
              <a:t xml:space="preserve">• AdamW (lr=3e-4) + CosineAnnealing  |  Batch=8, Epochs=80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231F20"/>
                </a:solidFill>
                <a:latin typeface="Calibri"/>
              </a:rPr>
              <a:t xml:space="preserve">
• WeightedRandomSampler (3× oversample) + Class weights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231F20"/>
                </a:solidFill>
                <a:latin typeface="Calibri"/>
              </a:rPr>
              <a:t xml:space="preserve">
• Augmentation: H-flip, Gaussian noise, brightness shift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231F20"/>
                </a:solidFill>
                <a:latin typeface="Calibri"/>
              </a:rPr>
              <a:t xml:space="preserve">
• SE attention blocks, Global Average Pooling, Dropout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595959"/>
                </a:solidFill>
                <a:latin typeface="Calibri"/>
              </a:rPr>
              <a:t xml:space="preserve">
• Saved: best_model_fold2.pth</a:t>
            </a:r>
          </a:p>
        </p:txBody>
      </p:sp>
      <p:sp xmlns:a="http://schemas.openxmlformats.org/drawingml/2006/main" xmlns:p="http://schemas.openxmlformats.org/presentationml/2006/main">
        <p:nvSpPr>
          <p:cNvPr id="400" name="bot-bar"/>
          <p:cNvSpPr>
            <a:spLocks noGrp="1"/>
          </p:cNvSpPr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401" name="bot-txt"/>
          <p:cNvSpPr txBox="1">
            <a:spLocks noGrp="1"/>
          </p:cNvSpPr>
          <p:nvPr/>
        </p:nvSpPr>
        <p:spPr>
          <a:xfrm>
            <a:off x="365760" y="6665976"/>
            <a:ext cx="11430000" cy="20116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Calibri"/>
              </a:rPr>
              <a:t xml:space="preserve">Mistral Solutions  |  mmWave Radar Internship  |  Balasubramanian C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200" name="top-bar"/>
          <p:cNvSpPr>
            <a:spLocks noGrp="1"/>
          </p:cNvSpPr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01" name="title"/>
          <p:cNvSpPr txBox="1">
            <a:spLocks noGrp="1"/>
          </p:cNvSpPr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2200" b="1" dirty="0">
                <a:solidFill>
                  <a:srgbClr val="231F20"/>
                </a:solidFill>
                <a:latin typeface="Calibri"/>
              </a:rPr>
              <a:t xml:space="preserve">Phase 3 — Live Capture Pipeline &amp; Real-World Results</a:t>
            </a:r>
          </a:p>
        </p:txBody>
      </p:sp>
      <p:sp xmlns:a="http://schemas.openxmlformats.org/drawingml/2006/main" xmlns:p="http://schemas.openxmlformats.org/presentationml/2006/main">
        <p:nvSpPr>
          <p:cNvPr id="202" name="div"/>
          <p:cNvSpPr>
            <a:spLocks noGrp="1"/>
          </p:cNvSpPr>
          <p:nvPr/>
        </p:nvSpPr>
        <p:spPr>
          <a:xfrm>
            <a:off x="365760" y="841248"/>
            <a:ext cx="1143000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03" name="pipe-hd"/>
          <p:cNvSpPr txBox="1">
            <a:spLocks noGrp="1"/>
          </p:cNvSpPr>
          <p:nvPr/>
        </p:nvSpPr>
        <p:spPr>
          <a:xfrm>
            <a:off x="365760" y="960120"/>
            <a:ext cx="11430000" cy="347472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C00000"/>
                </a:solidFill>
                <a:latin typeface="Calibri"/>
              </a:rPr>
              <a:t xml:space="preserve">END-TO-END PROCESSING PIPELINE</a:t>
            </a:r>
          </a:p>
        </p:txBody>
      </p:sp>
      <p:sp xmlns:a="http://schemas.openxmlformats.org/drawingml/2006/main" xmlns:p="http://schemas.openxmlformats.org/presentationml/2006/main">
        <p:nvSpPr>
          <p:cNvPr id="210" name="step-bg"/>
          <p:cNvSpPr>
            <a:spLocks noGrp="1"/>
          </p:cNvSpPr>
          <p:nvPr/>
        </p:nvSpPr>
        <p:spPr>
          <a:xfrm>
            <a:off x="365760" y="1371600"/>
            <a:ext cx="13716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11" name="step-txt"/>
          <p:cNvSpPr txBox="1">
            <a:spLocks noGrp="1"/>
          </p:cNvSpPr>
          <p:nvPr/>
        </p:nvSpPr>
        <p:spPr>
          <a:xfrm>
            <a:off x="365760" y="1371600"/>
            <a:ext cx="1371600" cy="8229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ctr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 xml:space="preserve">.bin
Raw ADC</a:t>
            </a:r>
          </a:p>
        </p:txBody>
      </p:sp>
      <p:sp xmlns:a="http://schemas.openxmlformats.org/drawingml/2006/main" xmlns:p="http://schemas.openxmlformats.org/presentationml/2006/main">
        <p:nvSpPr>
          <p:cNvPr id="230" name="arrow"/>
          <p:cNvSpPr>
            <a:spLocks noGrp="1"/>
          </p:cNvSpPr>
          <p:nvPr/>
        </p:nvSpPr>
        <p:spPr>
          <a:xfrm>
            <a:off x="1737360" y="1691640"/>
            <a:ext cx="320040" cy="18288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12" name="step-bg"/>
          <p:cNvSpPr>
            <a:spLocks noGrp="1"/>
          </p:cNvSpPr>
          <p:nvPr/>
        </p:nvSpPr>
        <p:spPr>
          <a:xfrm>
            <a:off x="2057400" y="1371600"/>
            <a:ext cx="1371600" cy="82296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13" name="step-txt"/>
          <p:cNvSpPr txBox="1">
            <a:spLocks noGrp="1"/>
          </p:cNvSpPr>
          <p:nvPr/>
        </p:nvSpPr>
        <p:spPr>
          <a:xfrm>
            <a:off x="2057400" y="1371600"/>
            <a:ext cx="1371600" cy="8229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ctr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 xml:space="preserve">Parse
IQ Data</a:t>
            </a:r>
          </a:p>
        </p:txBody>
      </p:sp>
      <p:sp xmlns:a="http://schemas.openxmlformats.org/drawingml/2006/main" xmlns:p="http://schemas.openxmlformats.org/presentationml/2006/main">
        <p:nvSpPr>
          <p:cNvPr id="231" name="arrow"/>
          <p:cNvSpPr>
            <a:spLocks noGrp="1"/>
          </p:cNvSpPr>
          <p:nvPr/>
        </p:nvSpPr>
        <p:spPr>
          <a:xfrm>
            <a:off x="3429000" y="1691640"/>
            <a:ext cx="320040" cy="18288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14" name="step-bg"/>
          <p:cNvSpPr>
            <a:spLocks noGrp="1"/>
          </p:cNvSpPr>
          <p:nvPr/>
        </p:nvSpPr>
        <p:spPr>
          <a:xfrm>
            <a:off x="3749039" y="1371600"/>
            <a:ext cx="1371600" cy="822960"/>
          </a:xfrm>
          <a:prstGeom prst="rect">
            <a:avLst/>
          </a:prstGeom>
          <a:solidFill>
            <a:srgbClr val="1F6B75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15" name="step-txt"/>
          <p:cNvSpPr txBox="1">
            <a:spLocks noGrp="1"/>
          </p:cNvSpPr>
          <p:nvPr/>
        </p:nvSpPr>
        <p:spPr>
          <a:xfrm>
            <a:off x="3749039" y="1371600"/>
            <a:ext cx="1371600" cy="8229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ctr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 xml:space="preserve">Range
FFT</a:t>
            </a:r>
          </a:p>
        </p:txBody>
      </p:sp>
      <p:sp xmlns:a="http://schemas.openxmlformats.org/drawingml/2006/main" xmlns:p="http://schemas.openxmlformats.org/presentationml/2006/main">
        <p:nvSpPr>
          <p:cNvPr id="232" name="arrow"/>
          <p:cNvSpPr>
            <a:spLocks noGrp="1"/>
          </p:cNvSpPr>
          <p:nvPr/>
        </p:nvSpPr>
        <p:spPr>
          <a:xfrm>
            <a:off x="5120640" y="1691640"/>
            <a:ext cx="320040" cy="18288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16" name="step-bg"/>
          <p:cNvSpPr>
            <a:spLocks noGrp="1"/>
          </p:cNvSpPr>
          <p:nvPr/>
        </p:nvSpPr>
        <p:spPr>
          <a:xfrm>
            <a:off x="5440679" y="1371600"/>
            <a:ext cx="1371600" cy="82296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17" name="step-txt"/>
          <p:cNvSpPr txBox="1">
            <a:spLocks noGrp="1"/>
          </p:cNvSpPr>
          <p:nvPr/>
        </p:nvSpPr>
        <p:spPr>
          <a:xfrm>
            <a:off x="5440679" y="1371600"/>
            <a:ext cx="1371600" cy="8229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ctr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 xml:space="preserve">Doppler
FFT</a:t>
            </a:r>
          </a:p>
        </p:txBody>
      </p:sp>
      <p:sp xmlns:a="http://schemas.openxmlformats.org/drawingml/2006/main" xmlns:p="http://schemas.openxmlformats.org/presentationml/2006/main">
        <p:nvSpPr>
          <p:cNvPr id="233" name="arrow"/>
          <p:cNvSpPr>
            <a:spLocks noGrp="1"/>
          </p:cNvSpPr>
          <p:nvPr/>
        </p:nvSpPr>
        <p:spPr>
          <a:xfrm>
            <a:off x="6812279" y="1691640"/>
            <a:ext cx="320040" cy="18288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18" name="step-bg"/>
          <p:cNvSpPr>
            <a:spLocks noGrp="1"/>
          </p:cNvSpPr>
          <p:nvPr/>
        </p:nvSpPr>
        <p:spPr>
          <a:xfrm>
            <a:off x="7132319" y="1371600"/>
            <a:ext cx="1371600" cy="822960"/>
          </a:xfrm>
          <a:prstGeom prst="rect">
            <a:avLst/>
          </a:prstGeom>
          <a:solidFill>
            <a:srgbClr val="1F6B75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19" name="step-txt"/>
          <p:cNvSpPr txBox="1">
            <a:spLocks noGrp="1"/>
          </p:cNvSpPr>
          <p:nvPr/>
        </p:nvSpPr>
        <p:spPr>
          <a:xfrm>
            <a:off x="7132319" y="1371600"/>
            <a:ext cx="1371600" cy="8229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ctr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 xml:space="preserve">CFAR
Detect</a:t>
            </a:r>
          </a:p>
        </p:txBody>
      </p:sp>
      <p:sp xmlns:a="http://schemas.openxmlformats.org/drawingml/2006/main" xmlns:p="http://schemas.openxmlformats.org/presentationml/2006/main">
        <p:nvSpPr>
          <p:cNvPr id="234" name="arrow"/>
          <p:cNvSpPr>
            <a:spLocks noGrp="1"/>
          </p:cNvSpPr>
          <p:nvPr/>
        </p:nvSpPr>
        <p:spPr>
          <a:xfrm>
            <a:off x="8503919" y="1691640"/>
            <a:ext cx="320040" cy="18288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20" name="step-bg"/>
          <p:cNvSpPr>
            <a:spLocks noGrp="1"/>
          </p:cNvSpPr>
          <p:nvPr/>
        </p:nvSpPr>
        <p:spPr>
          <a:xfrm>
            <a:off x="8823959" y="1371600"/>
            <a:ext cx="1371600" cy="82296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21" name="step-txt"/>
          <p:cNvSpPr txBox="1">
            <a:spLocks noGrp="1"/>
          </p:cNvSpPr>
          <p:nvPr/>
        </p:nvSpPr>
        <p:spPr>
          <a:xfrm>
            <a:off x="8823959" y="1371600"/>
            <a:ext cx="1371600" cy="8229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ctr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 xml:space="preserve">STFT
Spectro</a:t>
            </a:r>
          </a:p>
        </p:txBody>
      </p:sp>
      <p:sp xmlns:a="http://schemas.openxmlformats.org/drawingml/2006/main" xmlns:p="http://schemas.openxmlformats.org/presentationml/2006/main">
        <p:nvSpPr>
          <p:cNvPr id="235" name="arrow"/>
          <p:cNvSpPr>
            <a:spLocks noGrp="1"/>
          </p:cNvSpPr>
          <p:nvPr/>
        </p:nvSpPr>
        <p:spPr>
          <a:xfrm>
            <a:off x="10195559" y="1691640"/>
            <a:ext cx="320040" cy="18288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22" name="step-bg"/>
          <p:cNvSpPr>
            <a:spLocks noGrp="1"/>
          </p:cNvSpPr>
          <p:nvPr/>
        </p:nvSpPr>
        <p:spPr>
          <a:xfrm>
            <a:off x="10515599" y="1371600"/>
            <a:ext cx="13716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223" name="step-txt"/>
          <p:cNvSpPr txBox="1">
            <a:spLocks noGrp="1"/>
          </p:cNvSpPr>
          <p:nvPr/>
        </p:nvSpPr>
        <p:spPr>
          <a:xfrm>
            <a:off x="10515599" y="1371600"/>
            <a:ext cx="1371600" cy="82296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ctr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 xml:space="preserve">CNN
Predict</a:t>
            </a:r>
          </a:p>
        </p:txBody>
      </p:sp>
      <p:sp xmlns:a="http://schemas.openxmlformats.org/drawingml/2006/main" xmlns:p="http://schemas.openxmlformats.org/presentationml/2006/main">
        <p:nvSpPr>
          <p:cNvPr id="300" name="res-hd"/>
          <p:cNvSpPr txBox="1">
            <a:spLocks noGrp="1"/>
          </p:cNvSpPr>
          <p:nvPr/>
        </p:nvSpPr>
        <p:spPr>
          <a:xfrm>
            <a:off x="365760" y="2423160"/>
            <a:ext cx="11430000" cy="347472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C00000"/>
                </a:solidFill>
                <a:latin typeface="Calibri"/>
              </a:rPr>
              <a:t xml:space="preserve">VALIDATION — LIVE CAPTURES (IWR6843AOP + DCA1000)</a:t>
            </a:r>
          </a:p>
        </p:txBody>
      </p:sp>
      <p:sp xmlns:a="http://schemas.openxmlformats.org/drawingml/2006/main" xmlns:p="http://schemas.openxmlformats.org/presentationml/2006/main">
        <p:nvSpPr>
          <p:cNvPr id="310" name="cell-bg"/>
          <p:cNvSpPr>
            <a:spLocks noGrp="1"/>
          </p:cNvSpPr>
          <p:nvPr/>
        </p:nvSpPr>
        <p:spPr>
          <a:xfrm>
            <a:off x="365760" y="2834640"/>
            <a:ext cx="2560320" cy="475488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20" name="cell-txt"/>
          <p:cNvSpPr txBox="1">
            <a:spLocks noGrp="1"/>
          </p:cNvSpPr>
          <p:nvPr/>
        </p:nvSpPr>
        <p:spPr>
          <a:xfrm>
            <a:off x="411480" y="2880360"/>
            <a:ext cx="2468879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 xml:space="preserve">File</a:t>
            </a:r>
          </a:p>
        </p:txBody>
      </p:sp>
      <p:sp xmlns:a="http://schemas.openxmlformats.org/drawingml/2006/main" xmlns:p="http://schemas.openxmlformats.org/presentationml/2006/main">
        <p:nvSpPr>
          <p:cNvPr id="311" name="cell-bg"/>
          <p:cNvSpPr>
            <a:spLocks noGrp="1"/>
          </p:cNvSpPr>
          <p:nvPr/>
        </p:nvSpPr>
        <p:spPr>
          <a:xfrm>
            <a:off x="2926079" y="2834640"/>
            <a:ext cx="2926080" cy="475488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21" name="cell-txt"/>
          <p:cNvSpPr txBox="1">
            <a:spLocks noGrp="1"/>
          </p:cNvSpPr>
          <p:nvPr/>
        </p:nvSpPr>
        <p:spPr>
          <a:xfrm>
            <a:off x="2971799" y="2880360"/>
            <a:ext cx="2834640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 xml:space="preserve">Scenario</a:t>
            </a:r>
          </a:p>
        </p:txBody>
      </p:sp>
      <p:sp xmlns:a="http://schemas.openxmlformats.org/drawingml/2006/main" xmlns:p="http://schemas.openxmlformats.org/presentationml/2006/main">
        <p:nvSpPr>
          <p:cNvPr id="312" name="cell-bg"/>
          <p:cNvSpPr>
            <a:spLocks noGrp="1"/>
          </p:cNvSpPr>
          <p:nvPr/>
        </p:nvSpPr>
        <p:spPr>
          <a:xfrm>
            <a:off x="5852160" y="2834640"/>
            <a:ext cx="1005840" cy="475488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22" name="cell-txt"/>
          <p:cNvSpPr txBox="1">
            <a:spLocks noGrp="1"/>
          </p:cNvSpPr>
          <p:nvPr/>
        </p:nvSpPr>
        <p:spPr>
          <a:xfrm>
            <a:off x="5897880" y="2880360"/>
            <a:ext cx="914400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 xml:space="preserve">SNR</a:t>
            </a:r>
          </a:p>
        </p:txBody>
      </p:sp>
      <p:sp xmlns:a="http://schemas.openxmlformats.org/drawingml/2006/main" xmlns:p="http://schemas.openxmlformats.org/presentationml/2006/main">
        <p:nvSpPr>
          <p:cNvPr id="313" name="cell-bg"/>
          <p:cNvSpPr>
            <a:spLocks noGrp="1"/>
          </p:cNvSpPr>
          <p:nvPr/>
        </p:nvSpPr>
        <p:spPr>
          <a:xfrm>
            <a:off x="6858000" y="2834640"/>
            <a:ext cx="1737360" cy="475488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23" name="cell-txt"/>
          <p:cNvSpPr txBox="1">
            <a:spLocks noGrp="1"/>
          </p:cNvSpPr>
          <p:nvPr/>
        </p:nvSpPr>
        <p:spPr>
          <a:xfrm>
            <a:off x="6903720" y="2880360"/>
            <a:ext cx="1645919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 xml:space="preserve">CNN Result</a:t>
            </a:r>
          </a:p>
        </p:txBody>
      </p:sp>
      <p:sp xmlns:a="http://schemas.openxmlformats.org/drawingml/2006/main" xmlns:p="http://schemas.openxmlformats.org/presentationml/2006/main">
        <p:nvSpPr>
          <p:cNvPr id="314" name="cell-bg"/>
          <p:cNvSpPr>
            <a:spLocks noGrp="1"/>
          </p:cNvSpPr>
          <p:nvPr/>
        </p:nvSpPr>
        <p:spPr>
          <a:xfrm>
            <a:off x="8595360" y="2834640"/>
            <a:ext cx="2560320" cy="475488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24" name="cell-txt"/>
          <p:cNvSpPr txBox="1">
            <a:spLocks noGrp="1"/>
          </p:cNvSpPr>
          <p:nvPr/>
        </p:nvSpPr>
        <p:spPr>
          <a:xfrm>
            <a:off x="8641080" y="2880360"/>
            <a:ext cx="2468879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 xml:space="preserve">Correct?</a:t>
            </a:r>
          </a:p>
        </p:txBody>
      </p:sp>
      <p:sp xmlns:a="http://schemas.openxmlformats.org/drawingml/2006/main" xmlns:p="http://schemas.openxmlformats.org/presentationml/2006/main">
        <p:nvSpPr>
          <p:cNvPr id="320" name="cell-bg"/>
          <p:cNvSpPr>
            <a:spLocks noGrp="1"/>
          </p:cNvSpPr>
          <p:nvPr/>
        </p:nvSpPr>
        <p:spPr>
          <a:xfrm>
            <a:off x="365760" y="3328416"/>
            <a:ext cx="25603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30" name="cell-txt"/>
          <p:cNvSpPr txBox="1">
            <a:spLocks noGrp="1"/>
          </p:cNvSpPr>
          <p:nvPr/>
        </p:nvSpPr>
        <p:spPr>
          <a:xfrm>
            <a:off x="411480" y="3374136"/>
            <a:ext cx="2468879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adc_data.bin</a:t>
            </a:r>
          </a:p>
        </p:txBody>
      </p:sp>
      <p:sp xmlns:a="http://schemas.openxmlformats.org/drawingml/2006/main" xmlns:p="http://schemas.openxmlformats.org/presentationml/2006/main">
        <p:nvSpPr>
          <p:cNvPr id="321" name="cell-bg"/>
          <p:cNvSpPr>
            <a:spLocks noGrp="1"/>
          </p:cNvSpPr>
          <p:nvPr/>
        </p:nvSpPr>
        <p:spPr>
          <a:xfrm>
            <a:off x="2926079" y="3328416"/>
            <a:ext cx="29260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31" name="cell-txt"/>
          <p:cNvSpPr txBox="1">
            <a:spLocks noGrp="1"/>
          </p:cNvSpPr>
          <p:nvPr/>
        </p:nvSpPr>
        <p:spPr>
          <a:xfrm>
            <a:off x="2971799" y="3374136"/>
            <a:ext cx="2834640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Hovering drone, 8.2 m</a:t>
            </a:r>
          </a:p>
        </p:txBody>
      </p:sp>
      <p:sp xmlns:a="http://schemas.openxmlformats.org/drawingml/2006/main" xmlns:p="http://schemas.openxmlformats.org/presentationml/2006/main">
        <p:nvSpPr>
          <p:cNvPr id="322" name="cell-bg"/>
          <p:cNvSpPr>
            <a:spLocks noGrp="1"/>
          </p:cNvSpPr>
          <p:nvPr/>
        </p:nvSpPr>
        <p:spPr>
          <a:xfrm>
            <a:off x="5852160" y="3328416"/>
            <a:ext cx="1005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32" name="cell-txt"/>
          <p:cNvSpPr txBox="1">
            <a:spLocks noGrp="1"/>
          </p:cNvSpPr>
          <p:nvPr/>
        </p:nvSpPr>
        <p:spPr>
          <a:xfrm>
            <a:off x="5897880" y="3374136"/>
            <a:ext cx="914400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27.5 dB</a:t>
            </a:r>
          </a:p>
        </p:txBody>
      </p:sp>
      <p:sp xmlns:a="http://schemas.openxmlformats.org/drawingml/2006/main" xmlns:p="http://schemas.openxmlformats.org/presentationml/2006/main">
        <p:nvSpPr>
          <p:cNvPr id="323" name="cell-bg"/>
          <p:cNvSpPr>
            <a:spLocks noGrp="1"/>
          </p:cNvSpPr>
          <p:nvPr/>
        </p:nvSpPr>
        <p:spPr>
          <a:xfrm>
            <a:off x="6858000" y="3328416"/>
            <a:ext cx="1737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33" name="cell-txt"/>
          <p:cNvSpPr txBox="1">
            <a:spLocks noGrp="1"/>
          </p:cNvSpPr>
          <p:nvPr/>
        </p:nvSpPr>
        <p:spPr>
          <a:xfrm>
            <a:off x="6903720" y="3374136"/>
            <a:ext cx="1645919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Drone 99.6%</a:t>
            </a:r>
          </a:p>
        </p:txBody>
      </p:sp>
      <p:sp xmlns:a="http://schemas.openxmlformats.org/drawingml/2006/main" xmlns:p="http://schemas.openxmlformats.org/presentationml/2006/main">
        <p:nvSpPr>
          <p:cNvPr id="324" name="cell-bg"/>
          <p:cNvSpPr>
            <a:spLocks noGrp="1"/>
          </p:cNvSpPr>
          <p:nvPr/>
        </p:nvSpPr>
        <p:spPr>
          <a:xfrm>
            <a:off x="8595360" y="3328416"/>
            <a:ext cx="2560320" cy="4754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34" name="cell-txt"/>
          <p:cNvSpPr txBox="1">
            <a:spLocks noGrp="1"/>
          </p:cNvSpPr>
          <p:nvPr/>
        </p:nvSpPr>
        <p:spPr>
          <a:xfrm>
            <a:off x="8641080" y="3374136"/>
            <a:ext cx="2468879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✓</a:t>
            </a:r>
          </a:p>
        </p:txBody>
      </p:sp>
      <p:sp xmlns:a="http://schemas.openxmlformats.org/drawingml/2006/main" xmlns:p="http://schemas.openxmlformats.org/presentationml/2006/main">
        <p:nvSpPr>
          <p:cNvPr id="330" name="cell-bg"/>
          <p:cNvSpPr>
            <a:spLocks noGrp="1"/>
          </p:cNvSpPr>
          <p:nvPr/>
        </p:nvSpPr>
        <p:spPr>
          <a:xfrm>
            <a:off x="365760" y="3822191"/>
            <a:ext cx="2560320" cy="475488"/>
          </a:xfrm>
          <a:prstGeom prst="rect">
            <a:avLst/>
          </a:prstGeom>
          <a:solidFill>
            <a:srgbClr val="FFF9F9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40" name="cell-txt"/>
          <p:cNvSpPr txBox="1">
            <a:spLocks noGrp="1"/>
          </p:cNvSpPr>
          <p:nvPr/>
        </p:nvSpPr>
        <p:spPr>
          <a:xfrm>
            <a:off x="411480" y="3867911"/>
            <a:ext cx="2468879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adc_data_original_drone.bin</a:t>
            </a:r>
          </a:p>
        </p:txBody>
      </p:sp>
      <p:sp xmlns:a="http://schemas.openxmlformats.org/drawingml/2006/main" xmlns:p="http://schemas.openxmlformats.org/presentationml/2006/main">
        <p:nvSpPr>
          <p:cNvPr id="331" name="cell-bg"/>
          <p:cNvSpPr>
            <a:spLocks noGrp="1"/>
          </p:cNvSpPr>
          <p:nvPr/>
        </p:nvSpPr>
        <p:spPr>
          <a:xfrm>
            <a:off x="2926079" y="3822191"/>
            <a:ext cx="2926080" cy="475488"/>
          </a:xfrm>
          <a:prstGeom prst="rect">
            <a:avLst/>
          </a:prstGeom>
          <a:solidFill>
            <a:srgbClr val="FFF9F9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41" name="cell-txt"/>
          <p:cNvSpPr txBox="1">
            <a:spLocks noGrp="1"/>
          </p:cNvSpPr>
          <p:nvPr/>
        </p:nvSpPr>
        <p:spPr>
          <a:xfrm>
            <a:off x="2971799" y="3867911"/>
            <a:ext cx="2834640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Flying drone (props spinning)</a:t>
            </a:r>
          </a:p>
        </p:txBody>
      </p:sp>
      <p:sp xmlns:a="http://schemas.openxmlformats.org/drawingml/2006/main" xmlns:p="http://schemas.openxmlformats.org/presentationml/2006/main">
        <p:nvSpPr>
          <p:cNvPr id="332" name="cell-bg"/>
          <p:cNvSpPr>
            <a:spLocks noGrp="1"/>
          </p:cNvSpPr>
          <p:nvPr/>
        </p:nvSpPr>
        <p:spPr>
          <a:xfrm>
            <a:off x="5852160" y="3822191"/>
            <a:ext cx="1005840" cy="475488"/>
          </a:xfrm>
          <a:prstGeom prst="rect">
            <a:avLst/>
          </a:prstGeom>
          <a:solidFill>
            <a:srgbClr val="FFF9F9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42" name="cell-txt"/>
          <p:cNvSpPr txBox="1">
            <a:spLocks noGrp="1"/>
          </p:cNvSpPr>
          <p:nvPr/>
        </p:nvSpPr>
        <p:spPr>
          <a:xfrm>
            <a:off x="5897880" y="3867911"/>
            <a:ext cx="914400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17.7 dB</a:t>
            </a:r>
          </a:p>
        </p:txBody>
      </p:sp>
      <p:sp xmlns:a="http://schemas.openxmlformats.org/drawingml/2006/main" xmlns:p="http://schemas.openxmlformats.org/presentationml/2006/main">
        <p:nvSpPr>
          <p:cNvPr id="333" name="cell-bg"/>
          <p:cNvSpPr>
            <a:spLocks noGrp="1"/>
          </p:cNvSpPr>
          <p:nvPr/>
        </p:nvSpPr>
        <p:spPr>
          <a:xfrm>
            <a:off x="6858000" y="3822191"/>
            <a:ext cx="1737360" cy="475488"/>
          </a:xfrm>
          <a:prstGeom prst="rect">
            <a:avLst/>
          </a:prstGeom>
          <a:solidFill>
            <a:srgbClr val="FFF9F9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43" name="cell-txt"/>
          <p:cNvSpPr txBox="1">
            <a:spLocks noGrp="1"/>
          </p:cNvSpPr>
          <p:nvPr/>
        </p:nvSpPr>
        <p:spPr>
          <a:xfrm>
            <a:off x="6903720" y="3867911"/>
            <a:ext cx="1645919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Drone 98.8%</a:t>
            </a:r>
          </a:p>
        </p:txBody>
      </p:sp>
      <p:sp xmlns:a="http://schemas.openxmlformats.org/drawingml/2006/main" xmlns:p="http://schemas.openxmlformats.org/presentationml/2006/main">
        <p:nvSpPr>
          <p:cNvPr id="334" name="cell-bg"/>
          <p:cNvSpPr>
            <a:spLocks noGrp="1"/>
          </p:cNvSpPr>
          <p:nvPr/>
        </p:nvSpPr>
        <p:spPr>
          <a:xfrm>
            <a:off x="8595360" y="3822191"/>
            <a:ext cx="2560320" cy="4754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44" name="cell-txt"/>
          <p:cNvSpPr txBox="1">
            <a:spLocks noGrp="1"/>
          </p:cNvSpPr>
          <p:nvPr/>
        </p:nvSpPr>
        <p:spPr>
          <a:xfrm>
            <a:off x="8641080" y="3867911"/>
            <a:ext cx="2468879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✓</a:t>
            </a:r>
          </a:p>
        </p:txBody>
      </p:sp>
      <p:sp xmlns:a="http://schemas.openxmlformats.org/drawingml/2006/main" xmlns:p="http://schemas.openxmlformats.org/presentationml/2006/main">
        <p:nvSpPr>
          <p:cNvPr id="340" name="cell-bg"/>
          <p:cNvSpPr>
            <a:spLocks noGrp="1"/>
          </p:cNvSpPr>
          <p:nvPr/>
        </p:nvSpPr>
        <p:spPr>
          <a:xfrm>
            <a:off x="365760" y="4315968"/>
            <a:ext cx="25603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50" name="cell-txt"/>
          <p:cNvSpPr txBox="1">
            <a:spLocks noGrp="1"/>
          </p:cNvSpPr>
          <p:nvPr/>
        </p:nvSpPr>
        <p:spPr>
          <a:xfrm>
            <a:off x="411480" y="4361688"/>
            <a:ext cx="2468879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adc_data_drone_static.bin</a:t>
            </a:r>
          </a:p>
        </p:txBody>
      </p:sp>
      <p:sp xmlns:a="http://schemas.openxmlformats.org/drawingml/2006/main" xmlns:p="http://schemas.openxmlformats.org/presentationml/2006/main">
        <p:nvSpPr>
          <p:cNvPr id="341" name="cell-bg"/>
          <p:cNvSpPr>
            <a:spLocks noGrp="1"/>
          </p:cNvSpPr>
          <p:nvPr/>
        </p:nvSpPr>
        <p:spPr>
          <a:xfrm>
            <a:off x="2926079" y="4315968"/>
            <a:ext cx="29260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51" name="cell-txt"/>
          <p:cNvSpPr txBox="1">
            <a:spLocks noGrp="1"/>
          </p:cNvSpPr>
          <p:nvPr/>
        </p:nvSpPr>
        <p:spPr>
          <a:xfrm>
            <a:off x="2971799" y="4361688"/>
            <a:ext cx="2834640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Drone placed, no rotation</a:t>
            </a:r>
          </a:p>
        </p:txBody>
      </p:sp>
      <p:sp xmlns:a="http://schemas.openxmlformats.org/drawingml/2006/main" xmlns:p="http://schemas.openxmlformats.org/presentationml/2006/main">
        <p:nvSpPr>
          <p:cNvPr id="342" name="cell-bg"/>
          <p:cNvSpPr>
            <a:spLocks noGrp="1"/>
          </p:cNvSpPr>
          <p:nvPr/>
        </p:nvSpPr>
        <p:spPr>
          <a:xfrm>
            <a:off x="5852160" y="4315968"/>
            <a:ext cx="1005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52" name="cell-txt"/>
          <p:cNvSpPr txBox="1">
            <a:spLocks noGrp="1"/>
          </p:cNvSpPr>
          <p:nvPr/>
        </p:nvSpPr>
        <p:spPr>
          <a:xfrm>
            <a:off x="5897880" y="4361688"/>
            <a:ext cx="914400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15.0 dB</a:t>
            </a:r>
          </a:p>
        </p:txBody>
      </p:sp>
      <p:sp xmlns:a="http://schemas.openxmlformats.org/drawingml/2006/main" xmlns:p="http://schemas.openxmlformats.org/presentationml/2006/main">
        <p:nvSpPr>
          <p:cNvPr id="343" name="cell-bg"/>
          <p:cNvSpPr>
            <a:spLocks noGrp="1"/>
          </p:cNvSpPr>
          <p:nvPr/>
        </p:nvSpPr>
        <p:spPr>
          <a:xfrm>
            <a:off x="6858000" y="4315968"/>
            <a:ext cx="1737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53" name="cell-txt"/>
          <p:cNvSpPr txBox="1">
            <a:spLocks noGrp="1"/>
          </p:cNvSpPr>
          <p:nvPr/>
        </p:nvSpPr>
        <p:spPr>
          <a:xfrm>
            <a:off x="6903720" y="4361688"/>
            <a:ext cx="1645919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Drone 98.4%</a:t>
            </a:r>
          </a:p>
        </p:txBody>
      </p:sp>
      <p:sp xmlns:a="http://schemas.openxmlformats.org/drawingml/2006/main" xmlns:p="http://schemas.openxmlformats.org/presentationml/2006/main">
        <p:nvSpPr>
          <p:cNvPr id="344" name="cell-bg"/>
          <p:cNvSpPr>
            <a:spLocks noGrp="1"/>
          </p:cNvSpPr>
          <p:nvPr/>
        </p:nvSpPr>
        <p:spPr>
          <a:xfrm>
            <a:off x="8595360" y="4315968"/>
            <a:ext cx="2560320" cy="475488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54" name="cell-txt"/>
          <p:cNvSpPr txBox="1">
            <a:spLocks noGrp="1"/>
          </p:cNvSpPr>
          <p:nvPr/>
        </p:nvSpPr>
        <p:spPr>
          <a:xfrm>
            <a:off x="8641080" y="4361688"/>
            <a:ext cx="2468879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⚠ (domain gap)</a:t>
            </a:r>
          </a:p>
        </p:txBody>
      </p:sp>
      <p:sp xmlns:a="http://schemas.openxmlformats.org/drawingml/2006/main" xmlns:p="http://schemas.openxmlformats.org/presentationml/2006/main">
        <p:nvSpPr>
          <p:cNvPr id="350" name="cell-bg"/>
          <p:cNvSpPr>
            <a:spLocks noGrp="1"/>
          </p:cNvSpPr>
          <p:nvPr/>
        </p:nvSpPr>
        <p:spPr>
          <a:xfrm>
            <a:off x="365760" y="4809744"/>
            <a:ext cx="2560320" cy="475488"/>
          </a:xfrm>
          <a:prstGeom prst="rect">
            <a:avLst/>
          </a:prstGeom>
          <a:solidFill>
            <a:srgbClr val="FFF9F9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60" name="cell-txt"/>
          <p:cNvSpPr txBox="1">
            <a:spLocks noGrp="1"/>
          </p:cNvSpPr>
          <p:nvPr/>
        </p:nvSpPr>
        <p:spPr>
          <a:xfrm>
            <a:off x="411480" y="4855464"/>
            <a:ext cx="2468879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adc_data_plain.bin</a:t>
            </a:r>
          </a:p>
        </p:txBody>
      </p:sp>
      <p:sp xmlns:a="http://schemas.openxmlformats.org/drawingml/2006/main" xmlns:p="http://schemas.openxmlformats.org/presentationml/2006/main">
        <p:nvSpPr>
          <p:cNvPr id="351" name="cell-bg"/>
          <p:cNvSpPr>
            <a:spLocks noGrp="1"/>
          </p:cNvSpPr>
          <p:nvPr/>
        </p:nvSpPr>
        <p:spPr>
          <a:xfrm>
            <a:off x="2926079" y="4809744"/>
            <a:ext cx="2926080" cy="475488"/>
          </a:xfrm>
          <a:prstGeom prst="rect">
            <a:avLst/>
          </a:prstGeom>
          <a:solidFill>
            <a:srgbClr val="FFF9F9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61" name="cell-txt"/>
          <p:cNvSpPr txBox="1">
            <a:spLocks noGrp="1"/>
          </p:cNvSpPr>
          <p:nvPr/>
        </p:nvSpPr>
        <p:spPr>
          <a:xfrm>
            <a:off x="2971799" y="4855464"/>
            <a:ext cx="2834640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Empty room</a:t>
            </a:r>
          </a:p>
        </p:txBody>
      </p:sp>
      <p:sp xmlns:a="http://schemas.openxmlformats.org/drawingml/2006/main" xmlns:p="http://schemas.openxmlformats.org/presentationml/2006/main">
        <p:nvSpPr>
          <p:cNvPr id="352" name="cell-bg"/>
          <p:cNvSpPr>
            <a:spLocks noGrp="1"/>
          </p:cNvSpPr>
          <p:nvPr/>
        </p:nvSpPr>
        <p:spPr>
          <a:xfrm>
            <a:off x="5852160" y="4809744"/>
            <a:ext cx="1005840" cy="475488"/>
          </a:xfrm>
          <a:prstGeom prst="rect">
            <a:avLst/>
          </a:prstGeom>
          <a:solidFill>
            <a:srgbClr val="FFF9F9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62" name="cell-txt"/>
          <p:cNvSpPr txBox="1">
            <a:spLocks noGrp="1"/>
          </p:cNvSpPr>
          <p:nvPr/>
        </p:nvSpPr>
        <p:spPr>
          <a:xfrm>
            <a:off x="5897880" y="4855464"/>
            <a:ext cx="914400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12.1 dB</a:t>
            </a:r>
          </a:p>
        </p:txBody>
      </p:sp>
      <p:sp xmlns:a="http://schemas.openxmlformats.org/drawingml/2006/main" xmlns:p="http://schemas.openxmlformats.org/presentationml/2006/main">
        <p:nvSpPr>
          <p:cNvPr id="353" name="cell-bg"/>
          <p:cNvSpPr>
            <a:spLocks noGrp="1"/>
          </p:cNvSpPr>
          <p:nvPr/>
        </p:nvSpPr>
        <p:spPr>
          <a:xfrm>
            <a:off x="6858000" y="4809744"/>
            <a:ext cx="1737360" cy="475488"/>
          </a:xfrm>
          <a:prstGeom prst="rect">
            <a:avLst/>
          </a:prstGeom>
          <a:solidFill>
            <a:srgbClr val="FFF9F9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63" name="cell-txt"/>
          <p:cNvSpPr txBox="1">
            <a:spLocks noGrp="1"/>
          </p:cNvSpPr>
          <p:nvPr/>
        </p:nvSpPr>
        <p:spPr>
          <a:xfrm>
            <a:off x="6903720" y="4855464"/>
            <a:ext cx="1645919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No Target</a:t>
            </a:r>
          </a:p>
        </p:txBody>
      </p:sp>
      <p:sp xmlns:a="http://schemas.openxmlformats.org/drawingml/2006/main" xmlns:p="http://schemas.openxmlformats.org/presentationml/2006/main">
        <p:nvSpPr>
          <p:cNvPr id="354" name="cell-bg"/>
          <p:cNvSpPr>
            <a:spLocks noGrp="1"/>
          </p:cNvSpPr>
          <p:nvPr/>
        </p:nvSpPr>
        <p:spPr>
          <a:xfrm>
            <a:off x="8595360" y="4809744"/>
            <a:ext cx="2560320" cy="4754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64" name="cell-txt"/>
          <p:cNvSpPr txBox="1">
            <a:spLocks noGrp="1"/>
          </p:cNvSpPr>
          <p:nvPr/>
        </p:nvSpPr>
        <p:spPr>
          <a:xfrm>
            <a:off x="8641080" y="4855464"/>
            <a:ext cx="2468879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✓</a:t>
            </a:r>
          </a:p>
        </p:txBody>
      </p:sp>
      <p:sp xmlns:a="http://schemas.openxmlformats.org/drawingml/2006/main" xmlns:p="http://schemas.openxmlformats.org/presentationml/2006/main">
        <p:nvSpPr>
          <p:cNvPr id="360" name="cell-bg"/>
          <p:cNvSpPr>
            <a:spLocks noGrp="1"/>
          </p:cNvSpPr>
          <p:nvPr/>
        </p:nvSpPr>
        <p:spPr>
          <a:xfrm>
            <a:off x="365760" y="5303520"/>
            <a:ext cx="25603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70" name="cell-txt"/>
          <p:cNvSpPr txBox="1">
            <a:spLocks noGrp="1"/>
          </p:cNvSpPr>
          <p:nvPr/>
        </p:nvSpPr>
        <p:spPr>
          <a:xfrm>
            <a:off x="411480" y="5349240"/>
            <a:ext cx="2468879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adc_data_bala1/2.bin</a:t>
            </a:r>
          </a:p>
        </p:txBody>
      </p:sp>
      <p:sp xmlns:a="http://schemas.openxmlformats.org/drawingml/2006/main" xmlns:p="http://schemas.openxmlformats.org/presentationml/2006/main">
        <p:nvSpPr>
          <p:cNvPr id="361" name="cell-bg"/>
          <p:cNvSpPr>
            <a:spLocks noGrp="1"/>
          </p:cNvSpPr>
          <p:nvPr/>
        </p:nvSpPr>
        <p:spPr>
          <a:xfrm>
            <a:off x="2926079" y="5303520"/>
            <a:ext cx="29260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71" name="cell-txt"/>
          <p:cNvSpPr txBox="1">
            <a:spLocks noGrp="1"/>
          </p:cNvSpPr>
          <p:nvPr/>
        </p:nvSpPr>
        <p:spPr>
          <a:xfrm>
            <a:off x="2971799" y="5349240"/>
            <a:ext cx="2834640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Hand wave</a:t>
            </a:r>
          </a:p>
        </p:txBody>
      </p:sp>
      <p:sp xmlns:a="http://schemas.openxmlformats.org/drawingml/2006/main" xmlns:p="http://schemas.openxmlformats.org/presentationml/2006/main">
        <p:nvSpPr>
          <p:cNvPr id="362" name="cell-bg"/>
          <p:cNvSpPr>
            <a:spLocks noGrp="1"/>
          </p:cNvSpPr>
          <p:nvPr/>
        </p:nvSpPr>
        <p:spPr>
          <a:xfrm>
            <a:off x="5852160" y="5303520"/>
            <a:ext cx="1005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72" name="cell-txt"/>
          <p:cNvSpPr txBox="1">
            <a:spLocks noGrp="1"/>
          </p:cNvSpPr>
          <p:nvPr/>
        </p:nvSpPr>
        <p:spPr>
          <a:xfrm>
            <a:off x="5897880" y="5349240"/>
            <a:ext cx="914400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23.3 dB</a:t>
            </a:r>
          </a:p>
        </p:txBody>
      </p:sp>
      <p:sp xmlns:a="http://schemas.openxmlformats.org/drawingml/2006/main" xmlns:p="http://schemas.openxmlformats.org/presentationml/2006/main">
        <p:nvSpPr>
          <p:cNvPr id="363" name="cell-bg"/>
          <p:cNvSpPr>
            <a:spLocks noGrp="1"/>
          </p:cNvSpPr>
          <p:nvPr/>
        </p:nvSpPr>
        <p:spPr>
          <a:xfrm>
            <a:off x="6858000" y="5303520"/>
            <a:ext cx="1737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73" name="cell-txt"/>
          <p:cNvSpPr txBox="1">
            <a:spLocks noGrp="1"/>
          </p:cNvSpPr>
          <p:nvPr/>
        </p:nvSpPr>
        <p:spPr>
          <a:xfrm>
            <a:off x="6903720" y="5349240"/>
            <a:ext cx="1645919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Drone (wrong)</a:t>
            </a:r>
          </a:p>
        </p:txBody>
      </p:sp>
      <p:sp xmlns:a="http://schemas.openxmlformats.org/drawingml/2006/main" xmlns:p="http://schemas.openxmlformats.org/presentationml/2006/main">
        <p:nvSpPr>
          <p:cNvPr id="364" name="cell-bg"/>
          <p:cNvSpPr>
            <a:spLocks noGrp="1"/>
          </p:cNvSpPr>
          <p:nvPr/>
        </p:nvSpPr>
        <p:spPr>
          <a:xfrm>
            <a:off x="8595360" y="5303520"/>
            <a:ext cx="2560320" cy="475488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374" name="cell-txt"/>
          <p:cNvSpPr txBox="1">
            <a:spLocks noGrp="1"/>
          </p:cNvSpPr>
          <p:nvPr/>
        </p:nvSpPr>
        <p:spPr>
          <a:xfrm>
            <a:off x="8641080" y="5349240"/>
            <a:ext cx="2468879" cy="38404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31F20"/>
                </a:solidFill>
                <a:latin typeface="Calibri"/>
              </a:rPr>
              <a:t xml:space="preserve">✗ → Fine-tune needed</a:t>
            </a:r>
          </a:p>
        </p:txBody>
      </p:sp>
      <p:sp xmlns:a="http://schemas.openxmlformats.org/drawingml/2006/main" xmlns:p="http://schemas.openxmlformats.org/presentationml/2006/main">
        <p:nvSpPr>
          <p:cNvPr id="490" name="next-bg"/>
          <p:cNvSpPr>
            <a:spLocks noGrp="1"/>
          </p:cNvSpPr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491" name="next-txt"/>
          <p:cNvSpPr txBox="1">
            <a:spLocks noGrp="1"/>
          </p:cNvSpPr>
          <p:nvPr/>
        </p:nvSpPr>
        <p:spPr>
          <a:xfrm>
            <a:off x="502920" y="6108192"/>
            <a:ext cx="11155680" cy="45720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231F20"/>
                </a:solidFill>
                <a:latin typeface="Calibri"/>
              </a:rPr>
              <a:t xml:space="preserve">NEXT: Fine-tune MicroDopplerCNN on own captures (Drone vs Not-Drone) using transfer learning to eliminate domain gap — 6 samples, LOO-CV.</a:t>
            </a:r>
          </a:p>
        </p:txBody>
      </p:sp>
      <p:sp xmlns:a="http://schemas.openxmlformats.org/drawingml/2006/main" xmlns:p="http://schemas.openxmlformats.org/presentationml/2006/main">
        <p:nvSpPr>
          <p:cNvPr id="400" name="bot-bar"/>
          <p:cNvSpPr>
            <a:spLocks noGrp="1"/>
          </p:cNvSpPr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txBody>
          <a:bodyPr/>
          <a:lstStyle/>
          <a:p/>
        </p:txBody>
      </p:sp>
      <p:sp xmlns:a="http://schemas.openxmlformats.org/drawingml/2006/main" xmlns:p="http://schemas.openxmlformats.org/presentationml/2006/main">
        <p:nvSpPr>
          <p:cNvPr id="401" name="bot-txt"/>
          <p:cNvSpPr txBox="1">
            <a:spLocks noGrp="1"/>
          </p:cNvSpPr>
          <p:nvPr/>
        </p:nvSpPr>
        <p:spPr>
          <a:xfrm>
            <a:off x="365760" y="6665976"/>
            <a:ext cx="11430000" cy="201168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rm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Calibri"/>
              </a:rPr>
              <a:t xml:space="preserve">Mistral Solutions  |  mmWave Radar Internship  |  Balasubramanian C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stral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8</Words>
  <Application>Microsoft Office PowerPoint</Application>
  <PresentationFormat>Widescreen</PresentationFormat>
  <Paragraphs>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Times New Roman</vt:lpstr>
      <vt:lpstr>Mistral 2022</vt:lpstr>
      <vt:lpstr>1_Custom Design</vt:lpstr>
      <vt:lpstr>DRONE or NOT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&lt;Project Name&gt;</dc:title>
  <dc:creator>Shrihari KM</dc:creator>
  <cp:lastModifiedBy>Balasubramanian G</cp:lastModifiedBy>
  <cp:revision>11</cp:revision>
  <dcterms:created xsi:type="dcterms:W3CDTF">2018-09-27T09:55:35Z</dcterms:created>
  <dcterms:modified xsi:type="dcterms:W3CDTF">2026-10-06T10:57:27Z</dcterms:modified>
</cp:coreProperties>
</file>